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4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5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6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1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2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4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1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9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0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1990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27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862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09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65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84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54607" y="2942970"/>
            <a:ext cx="603478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95528" y="4967732"/>
            <a:ext cx="7552943" cy="72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733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7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07" y="2942970"/>
            <a:ext cx="3628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Bahnschrift"/>
                <a:cs typeface="Bahnschrift"/>
              </a:rPr>
              <a:t>Credit</a:t>
            </a:r>
            <a:r>
              <a:rPr sz="2800" spc="280" dirty="0">
                <a:latin typeface="Bahnschrift"/>
                <a:cs typeface="Bahnschrift"/>
              </a:rPr>
              <a:t> </a:t>
            </a:r>
            <a:r>
              <a:rPr sz="2800" spc="-5" dirty="0">
                <a:latin typeface="Bahnschrift"/>
                <a:cs typeface="Bahnschrift"/>
              </a:rPr>
              <a:t>EDA</a:t>
            </a:r>
            <a:r>
              <a:rPr sz="2800" spc="260" dirty="0">
                <a:latin typeface="Bahnschrift"/>
                <a:cs typeface="Bahnschrift"/>
              </a:rPr>
              <a:t> </a:t>
            </a:r>
            <a:r>
              <a:rPr sz="2800" spc="-5" dirty="0">
                <a:latin typeface="Bahnschrift"/>
                <a:cs typeface="Bahnschrift"/>
              </a:rPr>
              <a:t>Case</a:t>
            </a:r>
            <a:r>
              <a:rPr sz="2800" spc="265" dirty="0">
                <a:latin typeface="Bahnschrift"/>
                <a:cs typeface="Bahnschrift"/>
              </a:rPr>
              <a:t> </a:t>
            </a:r>
            <a:r>
              <a:rPr sz="2800" spc="-5" dirty="0">
                <a:latin typeface="Bahnschrift"/>
                <a:cs typeface="Bahnschrift"/>
              </a:rPr>
              <a:t>Study</a:t>
            </a:r>
            <a:endParaRPr sz="28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15736" y="4967732"/>
            <a:ext cx="2832735" cy="38792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lang="en-US" sz="2400" spc="-5" dirty="0">
                <a:latin typeface="Tahoma"/>
                <a:cs typeface="Tahoma"/>
              </a:rPr>
              <a:t>Anirudh Swami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0"/>
            <a:ext cx="3474720" cy="6867525"/>
            <a:chOff x="-4762" y="0"/>
            <a:chExt cx="347472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2304" y="0"/>
              <a:ext cx="1037094" cy="68579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3342640" cy="6858000"/>
            </a:xfrm>
            <a:custGeom>
              <a:avLst/>
              <a:gdLst/>
              <a:ahLst/>
              <a:cxnLst/>
              <a:rect l="l" t="t" r="r" b="b"/>
              <a:pathLst>
                <a:path w="3342640" h="6858000">
                  <a:moveTo>
                    <a:pt x="243230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2304" y="6857999"/>
                  </a:lnTo>
                  <a:lnTo>
                    <a:pt x="2479548" y="6788730"/>
                  </a:lnTo>
                  <a:lnTo>
                    <a:pt x="2502261" y="6751679"/>
                  </a:lnTo>
                  <a:lnTo>
                    <a:pt x="2524723" y="6714231"/>
                  </a:lnTo>
                  <a:lnTo>
                    <a:pt x="2546933" y="6676388"/>
                  </a:lnTo>
                  <a:lnTo>
                    <a:pt x="2568886" y="6638154"/>
                  </a:lnTo>
                  <a:lnTo>
                    <a:pt x="2590582" y="6599533"/>
                  </a:lnTo>
                  <a:lnTo>
                    <a:pt x="2612019" y="6560527"/>
                  </a:lnTo>
                  <a:lnTo>
                    <a:pt x="2633193" y="6521142"/>
                  </a:lnTo>
                  <a:lnTo>
                    <a:pt x="2654102" y="6481380"/>
                  </a:lnTo>
                  <a:lnTo>
                    <a:pt x="2674746" y="6441245"/>
                  </a:lnTo>
                  <a:lnTo>
                    <a:pt x="2695120" y="6400740"/>
                  </a:lnTo>
                  <a:lnTo>
                    <a:pt x="2715224" y="6359869"/>
                  </a:lnTo>
                  <a:lnTo>
                    <a:pt x="2735054" y="6318636"/>
                  </a:lnTo>
                  <a:lnTo>
                    <a:pt x="2754609" y="6277044"/>
                  </a:lnTo>
                  <a:lnTo>
                    <a:pt x="2773887" y="6235096"/>
                  </a:lnTo>
                  <a:lnTo>
                    <a:pt x="2792884" y="6192797"/>
                  </a:lnTo>
                  <a:lnTo>
                    <a:pt x="2811600" y="6150150"/>
                  </a:lnTo>
                  <a:lnTo>
                    <a:pt x="2830032" y="6107158"/>
                  </a:lnTo>
                  <a:lnTo>
                    <a:pt x="2848177" y="6063825"/>
                  </a:lnTo>
                  <a:lnTo>
                    <a:pt x="2866033" y="6020154"/>
                  </a:lnTo>
                  <a:lnTo>
                    <a:pt x="2883599" y="5976150"/>
                  </a:lnTo>
                  <a:lnTo>
                    <a:pt x="2900871" y="5931815"/>
                  </a:lnTo>
                  <a:lnTo>
                    <a:pt x="2917848" y="5887154"/>
                  </a:lnTo>
                  <a:lnTo>
                    <a:pt x="2934528" y="5842169"/>
                  </a:lnTo>
                  <a:lnTo>
                    <a:pt x="2950908" y="5796864"/>
                  </a:lnTo>
                  <a:lnTo>
                    <a:pt x="2966986" y="5751244"/>
                  </a:lnTo>
                  <a:lnTo>
                    <a:pt x="2982760" y="5705311"/>
                  </a:lnTo>
                  <a:lnTo>
                    <a:pt x="2998227" y="5659069"/>
                  </a:lnTo>
                  <a:lnTo>
                    <a:pt x="3013386" y="5612522"/>
                  </a:lnTo>
                  <a:lnTo>
                    <a:pt x="3028235" y="5565673"/>
                  </a:lnTo>
                  <a:lnTo>
                    <a:pt x="3042770" y="5518525"/>
                  </a:lnTo>
                  <a:lnTo>
                    <a:pt x="3056990" y="5471083"/>
                  </a:lnTo>
                  <a:lnTo>
                    <a:pt x="3070893" y="5423350"/>
                  </a:lnTo>
                  <a:lnTo>
                    <a:pt x="3084476" y="5375330"/>
                  </a:lnTo>
                  <a:lnTo>
                    <a:pt x="3097737" y="5327025"/>
                  </a:lnTo>
                  <a:lnTo>
                    <a:pt x="3110674" y="5278440"/>
                  </a:lnTo>
                  <a:lnTo>
                    <a:pt x="3123285" y="5229578"/>
                  </a:lnTo>
                  <a:lnTo>
                    <a:pt x="3135567" y="5180442"/>
                  </a:lnTo>
                  <a:lnTo>
                    <a:pt x="3147519" y="5131037"/>
                  </a:lnTo>
                  <a:lnTo>
                    <a:pt x="3159138" y="5081366"/>
                  </a:lnTo>
                  <a:lnTo>
                    <a:pt x="3170422" y="5031433"/>
                  </a:lnTo>
                  <a:lnTo>
                    <a:pt x="3181368" y="4981240"/>
                  </a:lnTo>
                  <a:lnTo>
                    <a:pt x="3191975" y="4930792"/>
                  </a:lnTo>
                  <a:lnTo>
                    <a:pt x="3202240" y="4880091"/>
                  </a:lnTo>
                  <a:lnTo>
                    <a:pt x="3212161" y="4829143"/>
                  </a:lnTo>
                  <a:lnTo>
                    <a:pt x="3221736" y="4777950"/>
                  </a:lnTo>
                  <a:lnTo>
                    <a:pt x="3230963" y="4726515"/>
                  </a:lnTo>
                  <a:lnTo>
                    <a:pt x="3239839" y="4674843"/>
                  </a:lnTo>
                  <a:lnTo>
                    <a:pt x="3248362" y="4622937"/>
                  </a:lnTo>
                  <a:lnTo>
                    <a:pt x="3256530" y="4570800"/>
                  </a:lnTo>
                  <a:lnTo>
                    <a:pt x="3264341" y="4518437"/>
                  </a:lnTo>
                  <a:lnTo>
                    <a:pt x="3271792" y="4465850"/>
                  </a:lnTo>
                  <a:lnTo>
                    <a:pt x="3278882" y="4413043"/>
                  </a:lnTo>
                  <a:lnTo>
                    <a:pt x="3285608" y="4360020"/>
                  </a:lnTo>
                  <a:lnTo>
                    <a:pt x="3291968" y="4306784"/>
                  </a:lnTo>
                  <a:lnTo>
                    <a:pt x="3297959" y="4253340"/>
                  </a:lnTo>
                  <a:lnTo>
                    <a:pt x="3303580" y="4199689"/>
                  </a:lnTo>
                  <a:lnTo>
                    <a:pt x="3308829" y="4145837"/>
                  </a:lnTo>
                  <a:lnTo>
                    <a:pt x="3313702" y="4091786"/>
                  </a:lnTo>
                  <a:lnTo>
                    <a:pt x="3318198" y="4037541"/>
                  </a:lnTo>
                  <a:lnTo>
                    <a:pt x="3322315" y="3983104"/>
                  </a:lnTo>
                  <a:lnTo>
                    <a:pt x="3326050" y="3928479"/>
                  </a:lnTo>
                  <a:lnTo>
                    <a:pt x="3329402" y="3873671"/>
                  </a:lnTo>
                  <a:lnTo>
                    <a:pt x="3332367" y="3818681"/>
                  </a:lnTo>
                  <a:lnTo>
                    <a:pt x="3334944" y="3763515"/>
                  </a:lnTo>
                  <a:lnTo>
                    <a:pt x="3337131" y="3708175"/>
                  </a:lnTo>
                  <a:lnTo>
                    <a:pt x="3338925" y="3652666"/>
                  </a:lnTo>
                  <a:lnTo>
                    <a:pt x="3340325" y="3596990"/>
                  </a:lnTo>
                  <a:lnTo>
                    <a:pt x="3341327" y="3541151"/>
                  </a:lnTo>
                  <a:lnTo>
                    <a:pt x="3341930" y="3485153"/>
                  </a:lnTo>
                  <a:lnTo>
                    <a:pt x="3342132" y="3429000"/>
                  </a:lnTo>
                  <a:lnTo>
                    <a:pt x="3341930" y="3372846"/>
                  </a:lnTo>
                  <a:lnTo>
                    <a:pt x="3341327" y="3316848"/>
                  </a:lnTo>
                  <a:lnTo>
                    <a:pt x="3340325" y="3261009"/>
                  </a:lnTo>
                  <a:lnTo>
                    <a:pt x="3338925" y="3205334"/>
                  </a:lnTo>
                  <a:lnTo>
                    <a:pt x="3337131" y="3149824"/>
                  </a:lnTo>
                  <a:lnTo>
                    <a:pt x="3334944" y="3094484"/>
                  </a:lnTo>
                  <a:lnTo>
                    <a:pt x="3332367" y="3039318"/>
                  </a:lnTo>
                  <a:lnTo>
                    <a:pt x="3329402" y="2984329"/>
                  </a:lnTo>
                  <a:lnTo>
                    <a:pt x="3326050" y="2929521"/>
                  </a:lnTo>
                  <a:lnTo>
                    <a:pt x="3322315" y="2874896"/>
                  </a:lnTo>
                  <a:lnTo>
                    <a:pt x="3318198" y="2820460"/>
                  </a:lnTo>
                  <a:lnTo>
                    <a:pt x="3313702" y="2766214"/>
                  </a:lnTo>
                  <a:lnTo>
                    <a:pt x="3308829" y="2712164"/>
                  </a:lnTo>
                  <a:lnTo>
                    <a:pt x="3303580" y="2658312"/>
                  </a:lnTo>
                  <a:lnTo>
                    <a:pt x="3297959" y="2604662"/>
                  </a:lnTo>
                  <a:lnTo>
                    <a:pt x="3291968" y="2551217"/>
                  </a:lnTo>
                  <a:lnTo>
                    <a:pt x="3285608" y="2497982"/>
                  </a:lnTo>
                  <a:lnTo>
                    <a:pt x="3278882" y="2444959"/>
                  </a:lnTo>
                  <a:lnTo>
                    <a:pt x="3271792" y="2392152"/>
                  </a:lnTo>
                  <a:lnTo>
                    <a:pt x="3264341" y="2339565"/>
                  </a:lnTo>
                  <a:lnTo>
                    <a:pt x="3256530" y="2287202"/>
                  </a:lnTo>
                  <a:lnTo>
                    <a:pt x="3248362" y="2235065"/>
                  </a:lnTo>
                  <a:lnTo>
                    <a:pt x="3239839" y="2183159"/>
                  </a:lnTo>
                  <a:lnTo>
                    <a:pt x="3230963" y="2131487"/>
                  </a:lnTo>
                  <a:lnTo>
                    <a:pt x="3221736" y="2080053"/>
                  </a:lnTo>
                  <a:lnTo>
                    <a:pt x="3212161" y="2028860"/>
                  </a:lnTo>
                  <a:lnTo>
                    <a:pt x="3202240" y="1977911"/>
                  </a:lnTo>
                  <a:lnTo>
                    <a:pt x="3191975" y="1927211"/>
                  </a:lnTo>
                  <a:lnTo>
                    <a:pt x="3181368" y="1876763"/>
                  </a:lnTo>
                  <a:lnTo>
                    <a:pt x="3170422" y="1826570"/>
                  </a:lnTo>
                  <a:lnTo>
                    <a:pt x="3159138" y="1776636"/>
                  </a:lnTo>
                  <a:lnTo>
                    <a:pt x="3147519" y="1726965"/>
                  </a:lnTo>
                  <a:lnTo>
                    <a:pt x="3135567" y="1677560"/>
                  </a:lnTo>
                  <a:lnTo>
                    <a:pt x="3123285" y="1628424"/>
                  </a:lnTo>
                  <a:lnTo>
                    <a:pt x="3110674" y="1579562"/>
                  </a:lnTo>
                  <a:lnTo>
                    <a:pt x="3097737" y="1530977"/>
                  </a:lnTo>
                  <a:lnTo>
                    <a:pt x="3084476" y="1482671"/>
                  </a:lnTo>
                  <a:lnTo>
                    <a:pt x="3070893" y="1434650"/>
                  </a:lnTo>
                  <a:lnTo>
                    <a:pt x="3056990" y="1386917"/>
                  </a:lnTo>
                  <a:lnTo>
                    <a:pt x="3042770" y="1339474"/>
                  </a:lnTo>
                  <a:lnTo>
                    <a:pt x="3028235" y="1292326"/>
                  </a:lnTo>
                  <a:lnTo>
                    <a:pt x="3013386" y="1245476"/>
                  </a:lnTo>
                  <a:lnTo>
                    <a:pt x="2998227" y="1198928"/>
                  </a:lnTo>
                  <a:lnTo>
                    <a:pt x="2982760" y="1152686"/>
                  </a:lnTo>
                  <a:lnTo>
                    <a:pt x="2966986" y="1106752"/>
                  </a:lnTo>
                  <a:lnTo>
                    <a:pt x="2950908" y="1061130"/>
                  </a:lnTo>
                  <a:lnTo>
                    <a:pt x="2934528" y="1015825"/>
                  </a:lnTo>
                  <a:lnTo>
                    <a:pt x="2917848" y="970839"/>
                  </a:lnTo>
                  <a:lnTo>
                    <a:pt x="2900871" y="926176"/>
                  </a:lnTo>
                  <a:lnTo>
                    <a:pt x="2883599" y="881840"/>
                  </a:lnTo>
                  <a:lnTo>
                    <a:pt x="2866033" y="837835"/>
                  </a:lnTo>
                  <a:lnTo>
                    <a:pt x="2848177" y="794163"/>
                  </a:lnTo>
                  <a:lnTo>
                    <a:pt x="2830032" y="750828"/>
                  </a:lnTo>
                  <a:lnTo>
                    <a:pt x="2811600" y="707835"/>
                  </a:lnTo>
                  <a:lnTo>
                    <a:pt x="2792884" y="665186"/>
                  </a:lnTo>
                  <a:lnTo>
                    <a:pt x="2773887" y="622885"/>
                  </a:lnTo>
                  <a:lnTo>
                    <a:pt x="2754609" y="580935"/>
                  </a:lnTo>
                  <a:lnTo>
                    <a:pt x="2735054" y="539341"/>
                  </a:lnTo>
                  <a:lnTo>
                    <a:pt x="2715224" y="498106"/>
                  </a:lnTo>
                  <a:lnTo>
                    <a:pt x="2695120" y="457233"/>
                  </a:lnTo>
                  <a:lnTo>
                    <a:pt x="2674746" y="416726"/>
                  </a:lnTo>
                  <a:lnTo>
                    <a:pt x="2654102" y="376588"/>
                  </a:lnTo>
                  <a:lnTo>
                    <a:pt x="2633193" y="336823"/>
                  </a:lnTo>
                  <a:lnTo>
                    <a:pt x="2612019" y="297435"/>
                  </a:lnTo>
                  <a:lnTo>
                    <a:pt x="2590582" y="258427"/>
                  </a:lnTo>
                  <a:lnTo>
                    <a:pt x="2568886" y="219803"/>
                  </a:lnTo>
                  <a:lnTo>
                    <a:pt x="2546933" y="181566"/>
                  </a:lnTo>
                  <a:lnTo>
                    <a:pt x="2524723" y="143720"/>
                  </a:lnTo>
                  <a:lnTo>
                    <a:pt x="2502261" y="106268"/>
                  </a:lnTo>
                  <a:lnTo>
                    <a:pt x="2479548" y="69215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342640" cy="6858000"/>
            </a:xfrm>
            <a:custGeom>
              <a:avLst/>
              <a:gdLst/>
              <a:ahLst/>
              <a:cxnLst/>
              <a:rect l="l" t="t" r="r" b="b"/>
              <a:pathLst>
                <a:path w="3342640" h="6858000">
                  <a:moveTo>
                    <a:pt x="0" y="0"/>
                  </a:moveTo>
                  <a:lnTo>
                    <a:pt x="2432304" y="0"/>
                  </a:lnTo>
                  <a:lnTo>
                    <a:pt x="2479548" y="69215"/>
                  </a:lnTo>
                  <a:lnTo>
                    <a:pt x="2502261" y="106268"/>
                  </a:lnTo>
                  <a:lnTo>
                    <a:pt x="2524723" y="143720"/>
                  </a:lnTo>
                  <a:lnTo>
                    <a:pt x="2546933" y="181566"/>
                  </a:lnTo>
                  <a:lnTo>
                    <a:pt x="2568886" y="219803"/>
                  </a:lnTo>
                  <a:lnTo>
                    <a:pt x="2590582" y="258427"/>
                  </a:lnTo>
                  <a:lnTo>
                    <a:pt x="2612019" y="297435"/>
                  </a:lnTo>
                  <a:lnTo>
                    <a:pt x="2633193" y="336823"/>
                  </a:lnTo>
                  <a:lnTo>
                    <a:pt x="2654102" y="376588"/>
                  </a:lnTo>
                  <a:lnTo>
                    <a:pt x="2674746" y="416726"/>
                  </a:lnTo>
                  <a:lnTo>
                    <a:pt x="2695120" y="457233"/>
                  </a:lnTo>
                  <a:lnTo>
                    <a:pt x="2715224" y="498106"/>
                  </a:lnTo>
                  <a:lnTo>
                    <a:pt x="2735054" y="539341"/>
                  </a:lnTo>
                  <a:lnTo>
                    <a:pt x="2754609" y="580935"/>
                  </a:lnTo>
                  <a:lnTo>
                    <a:pt x="2773887" y="622885"/>
                  </a:lnTo>
                  <a:lnTo>
                    <a:pt x="2792884" y="665186"/>
                  </a:lnTo>
                  <a:lnTo>
                    <a:pt x="2811600" y="707835"/>
                  </a:lnTo>
                  <a:lnTo>
                    <a:pt x="2830032" y="750828"/>
                  </a:lnTo>
                  <a:lnTo>
                    <a:pt x="2848177" y="794163"/>
                  </a:lnTo>
                  <a:lnTo>
                    <a:pt x="2866033" y="837835"/>
                  </a:lnTo>
                  <a:lnTo>
                    <a:pt x="2883599" y="881840"/>
                  </a:lnTo>
                  <a:lnTo>
                    <a:pt x="2900871" y="926176"/>
                  </a:lnTo>
                  <a:lnTo>
                    <a:pt x="2917848" y="970839"/>
                  </a:lnTo>
                  <a:lnTo>
                    <a:pt x="2934528" y="1015825"/>
                  </a:lnTo>
                  <a:lnTo>
                    <a:pt x="2950908" y="1061130"/>
                  </a:lnTo>
                  <a:lnTo>
                    <a:pt x="2966986" y="1106752"/>
                  </a:lnTo>
                  <a:lnTo>
                    <a:pt x="2982760" y="1152686"/>
                  </a:lnTo>
                  <a:lnTo>
                    <a:pt x="2998227" y="1198928"/>
                  </a:lnTo>
                  <a:lnTo>
                    <a:pt x="3013386" y="1245476"/>
                  </a:lnTo>
                  <a:lnTo>
                    <a:pt x="3028235" y="1292326"/>
                  </a:lnTo>
                  <a:lnTo>
                    <a:pt x="3042770" y="1339474"/>
                  </a:lnTo>
                  <a:lnTo>
                    <a:pt x="3056990" y="1386917"/>
                  </a:lnTo>
                  <a:lnTo>
                    <a:pt x="3070893" y="1434650"/>
                  </a:lnTo>
                  <a:lnTo>
                    <a:pt x="3084476" y="1482671"/>
                  </a:lnTo>
                  <a:lnTo>
                    <a:pt x="3097737" y="1530977"/>
                  </a:lnTo>
                  <a:lnTo>
                    <a:pt x="3110674" y="1579562"/>
                  </a:lnTo>
                  <a:lnTo>
                    <a:pt x="3123285" y="1628424"/>
                  </a:lnTo>
                  <a:lnTo>
                    <a:pt x="3135567" y="1677560"/>
                  </a:lnTo>
                  <a:lnTo>
                    <a:pt x="3147519" y="1726965"/>
                  </a:lnTo>
                  <a:lnTo>
                    <a:pt x="3159138" y="1776636"/>
                  </a:lnTo>
                  <a:lnTo>
                    <a:pt x="3170422" y="1826570"/>
                  </a:lnTo>
                  <a:lnTo>
                    <a:pt x="3181368" y="1876763"/>
                  </a:lnTo>
                  <a:lnTo>
                    <a:pt x="3191975" y="1927211"/>
                  </a:lnTo>
                  <a:lnTo>
                    <a:pt x="3202240" y="1977911"/>
                  </a:lnTo>
                  <a:lnTo>
                    <a:pt x="3212161" y="2028860"/>
                  </a:lnTo>
                  <a:lnTo>
                    <a:pt x="3221736" y="2080053"/>
                  </a:lnTo>
                  <a:lnTo>
                    <a:pt x="3230963" y="2131487"/>
                  </a:lnTo>
                  <a:lnTo>
                    <a:pt x="3239839" y="2183159"/>
                  </a:lnTo>
                  <a:lnTo>
                    <a:pt x="3248362" y="2235065"/>
                  </a:lnTo>
                  <a:lnTo>
                    <a:pt x="3256530" y="2287202"/>
                  </a:lnTo>
                  <a:lnTo>
                    <a:pt x="3264341" y="2339565"/>
                  </a:lnTo>
                  <a:lnTo>
                    <a:pt x="3271792" y="2392152"/>
                  </a:lnTo>
                  <a:lnTo>
                    <a:pt x="3278882" y="2444959"/>
                  </a:lnTo>
                  <a:lnTo>
                    <a:pt x="3285608" y="2497982"/>
                  </a:lnTo>
                  <a:lnTo>
                    <a:pt x="3291968" y="2551217"/>
                  </a:lnTo>
                  <a:lnTo>
                    <a:pt x="3297959" y="2604662"/>
                  </a:lnTo>
                  <a:lnTo>
                    <a:pt x="3303580" y="2658312"/>
                  </a:lnTo>
                  <a:lnTo>
                    <a:pt x="3308829" y="2712164"/>
                  </a:lnTo>
                  <a:lnTo>
                    <a:pt x="3313702" y="2766214"/>
                  </a:lnTo>
                  <a:lnTo>
                    <a:pt x="3318198" y="2820460"/>
                  </a:lnTo>
                  <a:lnTo>
                    <a:pt x="3322315" y="2874896"/>
                  </a:lnTo>
                  <a:lnTo>
                    <a:pt x="3326050" y="2929521"/>
                  </a:lnTo>
                  <a:lnTo>
                    <a:pt x="3329402" y="2984329"/>
                  </a:lnTo>
                  <a:lnTo>
                    <a:pt x="3332367" y="3039318"/>
                  </a:lnTo>
                  <a:lnTo>
                    <a:pt x="3334944" y="3094484"/>
                  </a:lnTo>
                  <a:lnTo>
                    <a:pt x="3337131" y="3149824"/>
                  </a:lnTo>
                  <a:lnTo>
                    <a:pt x="3338925" y="3205334"/>
                  </a:lnTo>
                  <a:lnTo>
                    <a:pt x="3340325" y="3261009"/>
                  </a:lnTo>
                  <a:lnTo>
                    <a:pt x="3341327" y="3316848"/>
                  </a:lnTo>
                  <a:lnTo>
                    <a:pt x="3341930" y="3372846"/>
                  </a:lnTo>
                  <a:lnTo>
                    <a:pt x="3342132" y="3429000"/>
                  </a:lnTo>
                  <a:lnTo>
                    <a:pt x="3341930" y="3485153"/>
                  </a:lnTo>
                  <a:lnTo>
                    <a:pt x="3341327" y="3541151"/>
                  </a:lnTo>
                  <a:lnTo>
                    <a:pt x="3340325" y="3596990"/>
                  </a:lnTo>
                  <a:lnTo>
                    <a:pt x="3338925" y="3652666"/>
                  </a:lnTo>
                  <a:lnTo>
                    <a:pt x="3337131" y="3708175"/>
                  </a:lnTo>
                  <a:lnTo>
                    <a:pt x="3334944" y="3763515"/>
                  </a:lnTo>
                  <a:lnTo>
                    <a:pt x="3332367" y="3818681"/>
                  </a:lnTo>
                  <a:lnTo>
                    <a:pt x="3329402" y="3873671"/>
                  </a:lnTo>
                  <a:lnTo>
                    <a:pt x="3326050" y="3928479"/>
                  </a:lnTo>
                  <a:lnTo>
                    <a:pt x="3322315" y="3983104"/>
                  </a:lnTo>
                  <a:lnTo>
                    <a:pt x="3318198" y="4037541"/>
                  </a:lnTo>
                  <a:lnTo>
                    <a:pt x="3313702" y="4091786"/>
                  </a:lnTo>
                  <a:lnTo>
                    <a:pt x="3308829" y="4145837"/>
                  </a:lnTo>
                  <a:lnTo>
                    <a:pt x="3303580" y="4199689"/>
                  </a:lnTo>
                  <a:lnTo>
                    <a:pt x="3297959" y="4253340"/>
                  </a:lnTo>
                  <a:lnTo>
                    <a:pt x="3291968" y="4306784"/>
                  </a:lnTo>
                  <a:lnTo>
                    <a:pt x="3285608" y="4360020"/>
                  </a:lnTo>
                  <a:lnTo>
                    <a:pt x="3278882" y="4413043"/>
                  </a:lnTo>
                  <a:lnTo>
                    <a:pt x="3271792" y="4465850"/>
                  </a:lnTo>
                  <a:lnTo>
                    <a:pt x="3264341" y="4518437"/>
                  </a:lnTo>
                  <a:lnTo>
                    <a:pt x="3256530" y="4570800"/>
                  </a:lnTo>
                  <a:lnTo>
                    <a:pt x="3248362" y="4622937"/>
                  </a:lnTo>
                  <a:lnTo>
                    <a:pt x="3239839" y="4674843"/>
                  </a:lnTo>
                  <a:lnTo>
                    <a:pt x="3230963" y="4726515"/>
                  </a:lnTo>
                  <a:lnTo>
                    <a:pt x="3221736" y="4777950"/>
                  </a:lnTo>
                  <a:lnTo>
                    <a:pt x="3212161" y="4829143"/>
                  </a:lnTo>
                  <a:lnTo>
                    <a:pt x="3202240" y="4880091"/>
                  </a:lnTo>
                  <a:lnTo>
                    <a:pt x="3191975" y="4930792"/>
                  </a:lnTo>
                  <a:lnTo>
                    <a:pt x="3181368" y="4981240"/>
                  </a:lnTo>
                  <a:lnTo>
                    <a:pt x="3170422" y="5031433"/>
                  </a:lnTo>
                  <a:lnTo>
                    <a:pt x="3159138" y="5081366"/>
                  </a:lnTo>
                  <a:lnTo>
                    <a:pt x="3147519" y="5131037"/>
                  </a:lnTo>
                  <a:lnTo>
                    <a:pt x="3135567" y="5180442"/>
                  </a:lnTo>
                  <a:lnTo>
                    <a:pt x="3123285" y="5229578"/>
                  </a:lnTo>
                  <a:lnTo>
                    <a:pt x="3110674" y="5278440"/>
                  </a:lnTo>
                  <a:lnTo>
                    <a:pt x="3097737" y="5327025"/>
                  </a:lnTo>
                  <a:lnTo>
                    <a:pt x="3084476" y="5375330"/>
                  </a:lnTo>
                  <a:lnTo>
                    <a:pt x="3070893" y="5423350"/>
                  </a:lnTo>
                  <a:lnTo>
                    <a:pt x="3056990" y="5471083"/>
                  </a:lnTo>
                  <a:lnTo>
                    <a:pt x="3042770" y="5518525"/>
                  </a:lnTo>
                  <a:lnTo>
                    <a:pt x="3028235" y="5565673"/>
                  </a:lnTo>
                  <a:lnTo>
                    <a:pt x="3013386" y="5612522"/>
                  </a:lnTo>
                  <a:lnTo>
                    <a:pt x="2998227" y="5659069"/>
                  </a:lnTo>
                  <a:lnTo>
                    <a:pt x="2982760" y="5705311"/>
                  </a:lnTo>
                  <a:lnTo>
                    <a:pt x="2966986" y="5751244"/>
                  </a:lnTo>
                  <a:lnTo>
                    <a:pt x="2950908" y="5796864"/>
                  </a:lnTo>
                  <a:lnTo>
                    <a:pt x="2934528" y="5842169"/>
                  </a:lnTo>
                  <a:lnTo>
                    <a:pt x="2917848" y="5887154"/>
                  </a:lnTo>
                  <a:lnTo>
                    <a:pt x="2900871" y="5931815"/>
                  </a:lnTo>
                  <a:lnTo>
                    <a:pt x="2883599" y="5976150"/>
                  </a:lnTo>
                  <a:lnTo>
                    <a:pt x="2866033" y="6020154"/>
                  </a:lnTo>
                  <a:lnTo>
                    <a:pt x="2848177" y="6063825"/>
                  </a:lnTo>
                  <a:lnTo>
                    <a:pt x="2830032" y="6107158"/>
                  </a:lnTo>
                  <a:lnTo>
                    <a:pt x="2811600" y="6150150"/>
                  </a:lnTo>
                  <a:lnTo>
                    <a:pt x="2792884" y="6192797"/>
                  </a:lnTo>
                  <a:lnTo>
                    <a:pt x="2773887" y="6235096"/>
                  </a:lnTo>
                  <a:lnTo>
                    <a:pt x="2754609" y="6277044"/>
                  </a:lnTo>
                  <a:lnTo>
                    <a:pt x="2735054" y="6318636"/>
                  </a:lnTo>
                  <a:lnTo>
                    <a:pt x="2715224" y="6359869"/>
                  </a:lnTo>
                  <a:lnTo>
                    <a:pt x="2695120" y="6400740"/>
                  </a:lnTo>
                  <a:lnTo>
                    <a:pt x="2674746" y="6441245"/>
                  </a:lnTo>
                  <a:lnTo>
                    <a:pt x="2654102" y="6481380"/>
                  </a:lnTo>
                  <a:lnTo>
                    <a:pt x="2633193" y="6521142"/>
                  </a:lnTo>
                  <a:lnTo>
                    <a:pt x="2612019" y="6560527"/>
                  </a:lnTo>
                  <a:lnTo>
                    <a:pt x="2590582" y="6599533"/>
                  </a:lnTo>
                  <a:lnTo>
                    <a:pt x="2568886" y="6638154"/>
                  </a:lnTo>
                  <a:lnTo>
                    <a:pt x="2546933" y="6676388"/>
                  </a:lnTo>
                  <a:lnTo>
                    <a:pt x="2524723" y="6714231"/>
                  </a:lnTo>
                  <a:lnTo>
                    <a:pt x="2502261" y="6751679"/>
                  </a:lnTo>
                  <a:lnTo>
                    <a:pt x="2479548" y="6788730"/>
                  </a:lnTo>
                  <a:lnTo>
                    <a:pt x="2432304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3335020" cy="6858000"/>
            </a:xfrm>
            <a:custGeom>
              <a:avLst/>
              <a:gdLst/>
              <a:ahLst/>
              <a:cxnLst/>
              <a:rect l="l" t="t" r="r" b="b"/>
              <a:pathLst>
                <a:path w="3335020" h="6858000">
                  <a:moveTo>
                    <a:pt x="242493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24938" y="6857999"/>
                  </a:lnTo>
                  <a:lnTo>
                    <a:pt x="2472055" y="6788730"/>
                  </a:lnTo>
                  <a:lnTo>
                    <a:pt x="2494768" y="6751679"/>
                  </a:lnTo>
                  <a:lnTo>
                    <a:pt x="2517230" y="6714231"/>
                  </a:lnTo>
                  <a:lnTo>
                    <a:pt x="2539439" y="6676388"/>
                  </a:lnTo>
                  <a:lnTo>
                    <a:pt x="2561392" y="6638154"/>
                  </a:lnTo>
                  <a:lnTo>
                    <a:pt x="2583087" y="6599533"/>
                  </a:lnTo>
                  <a:lnTo>
                    <a:pt x="2604523" y="6560527"/>
                  </a:lnTo>
                  <a:lnTo>
                    <a:pt x="2625696" y="6521142"/>
                  </a:lnTo>
                  <a:lnTo>
                    <a:pt x="2646605" y="6481380"/>
                  </a:lnTo>
                  <a:lnTo>
                    <a:pt x="2667247" y="6441245"/>
                  </a:lnTo>
                  <a:lnTo>
                    <a:pt x="2687620" y="6400740"/>
                  </a:lnTo>
                  <a:lnTo>
                    <a:pt x="2707722" y="6359869"/>
                  </a:lnTo>
                  <a:lnTo>
                    <a:pt x="2727551" y="6318636"/>
                  </a:lnTo>
                  <a:lnTo>
                    <a:pt x="2747105" y="6277044"/>
                  </a:lnTo>
                  <a:lnTo>
                    <a:pt x="2766381" y="6235096"/>
                  </a:lnTo>
                  <a:lnTo>
                    <a:pt x="2785376" y="6192797"/>
                  </a:lnTo>
                  <a:lnTo>
                    <a:pt x="2804090" y="6150150"/>
                  </a:lnTo>
                  <a:lnTo>
                    <a:pt x="2822520" y="6107158"/>
                  </a:lnTo>
                  <a:lnTo>
                    <a:pt x="2840663" y="6063825"/>
                  </a:lnTo>
                  <a:lnTo>
                    <a:pt x="2858517" y="6020154"/>
                  </a:lnTo>
                  <a:lnTo>
                    <a:pt x="2876080" y="5976150"/>
                  </a:lnTo>
                  <a:lnTo>
                    <a:pt x="2893351" y="5931815"/>
                  </a:lnTo>
                  <a:lnTo>
                    <a:pt x="2910325" y="5887154"/>
                  </a:lnTo>
                  <a:lnTo>
                    <a:pt x="2927003" y="5842169"/>
                  </a:lnTo>
                  <a:lnTo>
                    <a:pt x="2943380" y="5796864"/>
                  </a:lnTo>
                  <a:lnTo>
                    <a:pt x="2959456" y="5751244"/>
                  </a:lnTo>
                  <a:lnTo>
                    <a:pt x="2975227" y="5705311"/>
                  </a:lnTo>
                  <a:lnTo>
                    <a:pt x="2990692" y="5659069"/>
                  </a:lnTo>
                  <a:lnTo>
                    <a:pt x="3005849" y="5612522"/>
                  </a:lnTo>
                  <a:lnTo>
                    <a:pt x="3020694" y="5565673"/>
                  </a:lnTo>
                  <a:lnTo>
                    <a:pt x="3035227" y="5518525"/>
                  </a:lnTo>
                  <a:lnTo>
                    <a:pt x="3049444" y="5471083"/>
                  </a:lnTo>
                  <a:lnTo>
                    <a:pt x="3063344" y="5423350"/>
                  </a:lnTo>
                  <a:lnTo>
                    <a:pt x="3076925" y="5375330"/>
                  </a:lnTo>
                  <a:lnTo>
                    <a:pt x="3090183" y="5327025"/>
                  </a:lnTo>
                  <a:lnTo>
                    <a:pt x="3103118" y="5278440"/>
                  </a:lnTo>
                  <a:lnTo>
                    <a:pt x="3115726" y="5229578"/>
                  </a:lnTo>
                  <a:lnTo>
                    <a:pt x="3128005" y="5180442"/>
                  </a:lnTo>
                  <a:lnTo>
                    <a:pt x="3139954" y="5131037"/>
                  </a:lnTo>
                  <a:lnTo>
                    <a:pt x="3151571" y="5081366"/>
                  </a:lnTo>
                  <a:lnTo>
                    <a:pt x="3162852" y="5031433"/>
                  </a:lnTo>
                  <a:lnTo>
                    <a:pt x="3173795" y="4981240"/>
                  </a:lnTo>
                  <a:lnTo>
                    <a:pt x="3184400" y="4930792"/>
                  </a:lnTo>
                  <a:lnTo>
                    <a:pt x="3194662" y="4880091"/>
                  </a:lnTo>
                  <a:lnTo>
                    <a:pt x="3204581" y="4829143"/>
                  </a:lnTo>
                  <a:lnTo>
                    <a:pt x="3214153" y="4777950"/>
                  </a:lnTo>
                  <a:lnTo>
                    <a:pt x="3223377" y="4726515"/>
                  </a:lnTo>
                  <a:lnTo>
                    <a:pt x="3232251" y="4674843"/>
                  </a:lnTo>
                  <a:lnTo>
                    <a:pt x="3240772" y="4622937"/>
                  </a:lnTo>
                  <a:lnTo>
                    <a:pt x="3248937" y="4570800"/>
                  </a:lnTo>
                  <a:lnTo>
                    <a:pt x="3256746" y="4518437"/>
                  </a:lnTo>
                  <a:lnTo>
                    <a:pt x="3264195" y="4465850"/>
                  </a:lnTo>
                  <a:lnTo>
                    <a:pt x="3271283" y="4413043"/>
                  </a:lnTo>
                  <a:lnTo>
                    <a:pt x="3278007" y="4360020"/>
                  </a:lnTo>
                  <a:lnTo>
                    <a:pt x="3284365" y="4306784"/>
                  </a:lnTo>
                  <a:lnTo>
                    <a:pt x="3290354" y="4253340"/>
                  </a:lnTo>
                  <a:lnTo>
                    <a:pt x="3295974" y="4199689"/>
                  </a:lnTo>
                  <a:lnTo>
                    <a:pt x="3301220" y="4145837"/>
                  </a:lnTo>
                  <a:lnTo>
                    <a:pt x="3306092" y="4091786"/>
                  </a:lnTo>
                  <a:lnTo>
                    <a:pt x="3310587" y="4037541"/>
                  </a:lnTo>
                  <a:lnTo>
                    <a:pt x="3314702" y="3983104"/>
                  </a:lnTo>
                  <a:lnTo>
                    <a:pt x="3318436" y="3928479"/>
                  </a:lnTo>
                  <a:lnTo>
                    <a:pt x="3321786" y="3873671"/>
                  </a:lnTo>
                  <a:lnTo>
                    <a:pt x="3324751" y="3818681"/>
                  </a:lnTo>
                  <a:lnTo>
                    <a:pt x="3327327" y="3763515"/>
                  </a:lnTo>
                  <a:lnTo>
                    <a:pt x="3329513" y="3708175"/>
                  </a:lnTo>
                  <a:lnTo>
                    <a:pt x="3331307" y="3652666"/>
                  </a:lnTo>
                  <a:lnTo>
                    <a:pt x="3332705" y="3596990"/>
                  </a:lnTo>
                  <a:lnTo>
                    <a:pt x="3333707" y="3541151"/>
                  </a:lnTo>
                  <a:lnTo>
                    <a:pt x="3334310" y="3485153"/>
                  </a:lnTo>
                  <a:lnTo>
                    <a:pt x="3334512" y="3429000"/>
                  </a:lnTo>
                  <a:lnTo>
                    <a:pt x="3334310" y="3372846"/>
                  </a:lnTo>
                  <a:lnTo>
                    <a:pt x="3333707" y="3316848"/>
                  </a:lnTo>
                  <a:lnTo>
                    <a:pt x="3332705" y="3261009"/>
                  </a:lnTo>
                  <a:lnTo>
                    <a:pt x="3331307" y="3205334"/>
                  </a:lnTo>
                  <a:lnTo>
                    <a:pt x="3329513" y="3149824"/>
                  </a:lnTo>
                  <a:lnTo>
                    <a:pt x="3327327" y="3094484"/>
                  </a:lnTo>
                  <a:lnTo>
                    <a:pt x="3324751" y="3039318"/>
                  </a:lnTo>
                  <a:lnTo>
                    <a:pt x="3321786" y="2984329"/>
                  </a:lnTo>
                  <a:lnTo>
                    <a:pt x="3318436" y="2929521"/>
                  </a:lnTo>
                  <a:lnTo>
                    <a:pt x="3314702" y="2874896"/>
                  </a:lnTo>
                  <a:lnTo>
                    <a:pt x="3310587" y="2820460"/>
                  </a:lnTo>
                  <a:lnTo>
                    <a:pt x="3306092" y="2766214"/>
                  </a:lnTo>
                  <a:lnTo>
                    <a:pt x="3301220" y="2712164"/>
                  </a:lnTo>
                  <a:lnTo>
                    <a:pt x="3295974" y="2658312"/>
                  </a:lnTo>
                  <a:lnTo>
                    <a:pt x="3290354" y="2604662"/>
                  </a:lnTo>
                  <a:lnTo>
                    <a:pt x="3284365" y="2551217"/>
                  </a:lnTo>
                  <a:lnTo>
                    <a:pt x="3278007" y="2497982"/>
                  </a:lnTo>
                  <a:lnTo>
                    <a:pt x="3271283" y="2444959"/>
                  </a:lnTo>
                  <a:lnTo>
                    <a:pt x="3264195" y="2392152"/>
                  </a:lnTo>
                  <a:lnTo>
                    <a:pt x="3256746" y="2339565"/>
                  </a:lnTo>
                  <a:lnTo>
                    <a:pt x="3248937" y="2287202"/>
                  </a:lnTo>
                  <a:lnTo>
                    <a:pt x="3240772" y="2235065"/>
                  </a:lnTo>
                  <a:lnTo>
                    <a:pt x="3232251" y="2183159"/>
                  </a:lnTo>
                  <a:lnTo>
                    <a:pt x="3223377" y="2131487"/>
                  </a:lnTo>
                  <a:lnTo>
                    <a:pt x="3214153" y="2080053"/>
                  </a:lnTo>
                  <a:lnTo>
                    <a:pt x="3204581" y="2028860"/>
                  </a:lnTo>
                  <a:lnTo>
                    <a:pt x="3194662" y="1977911"/>
                  </a:lnTo>
                  <a:lnTo>
                    <a:pt x="3184400" y="1927211"/>
                  </a:lnTo>
                  <a:lnTo>
                    <a:pt x="3173795" y="1876763"/>
                  </a:lnTo>
                  <a:lnTo>
                    <a:pt x="3162852" y="1826570"/>
                  </a:lnTo>
                  <a:lnTo>
                    <a:pt x="3151571" y="1776636"/>
                  </a:lnTo>
                  <a:lnTo>
                    <a:pt x="3139954" y="1726965"/>
                  </a:lnTo>
                  <a:lnTo>
                    <a:pt x="3128005" y="1677560"/>
                  </a:lnTo>
                  <a:lnTo>
                    <a:pt x="3115726" y="1628424"/>
                  </a:lnTo>
                  <a:lnTo>
                    <a:pt x="3103117" y="1579562"/>
                  </a:lnTo>
                  <a:lnTo>
                    <a:pt x="3090183" y="1530977"/>
                  </a:lnTo>
                  <a:lnTo>
                    <a:pt x="3076925" y="1482671"/>
                  </a:lnTo>
                  <a:lnTo>
                    <a:pt x="3063344" y="1434650"/>
                  </a:lnTo>
                  <a:lnTo>
                    <a:pt x="3049444" y="1386917"/>
                  </a:lnTo>
                  <a:lnTo>
                    <a:pt x="3035227" y="1339474"/>
                  </a:lnTo>
                  <a:lnTo>
                    <a:pt x="3020694" y="1292326"/>
                  </a:lnTo>
                  <a:lnTo>
                    <a:pt x="3005849" y="1245476"/>
                  </a:lnTo>
                  <a:lnTo>
                    <a:pt x="2990692" y="1198928"/>
                  </a:lnTo>
                  <a:lnTo>
                    <a:pt x="2975227" y="1152686"/>
                  </a:lnTo>
                  <a:lnTo>
                    <a:pt x="2959456" y="1106752"/>
                  </a:lnTo>
                  <a:lnTo>
                    <a:pt x="2943380" y="1061130"/>
                  </a:lnTo>
                  <a:lnTo>
                    <a:pt x="2927003" y="1015825"/>
                  </a:lnTo>
                  <a:lnTo>
                    <a:pt x="2910325" y="970839"/>
                  </a:lnTo>
                  <a:lnTo>
                    <a:pt x="2893351" y="926176"/>
                  </a:lnTo>
                  <a:lnTo>
                    <a:pt x="2876080" y="881840"/>
                  </a:lnTo>
                  <a:lnTo>
                    <a:pt x="2858517" y="837835"/>
                  </a:lnTo>
                  <a:lnTo>
                    <a:pt x="2840663" y="794163"/>
                  </a:lnTo>
                  <a:lnTo>
                    <a:pt x="2822520" y="750828"/>
                  </a:lnTo>
                  <a:lnTo>
                    <a:pt x="2804090" y="707835"/>
                  </a:lnTo>
                  <a:lnTo>
                    <a:pt x="2785376" y="665186"/>
                  </a:lnTo>
                  <a:lnTo>
                    <a:pt x="2766381" y="622885"/>
                  </a:lnTo>
                  <a:lnTo>
                    <a:pt x="2747105" y="580935"/>
                  </a:lnTo>
                  <a:lnTo>
                    <a:pt x="2727551" y="539341"/>
                  </a:lnTo>
                  <a:lnTo>
                    <a:pt x="2707722" y="498106"/>
                  </a:lnTo>
                  <a:lnTo>
                    <a:pt x="2687620" y="457233"/>
                  </a:lnTo>
                  <a:lnTo>
                    <a:pt x="2667247" y="416726"/>
                  </a:lnTo>
                  <a:lnTo>
                    <a:pt x="2646605" y="376588"/>
                  </a:lnTo>
                  <a:lnTo>
                    <a:pt x="2625696" y="336823"/>
                  </a:lnTo>
                  <a:lnTo>
                    <a:pt x="2604523" y="297435"/>
                  </a:lnTo>
                  <a:lnTo>
                    <a:pt x="2583087" y="258427"/>
                  </a:lnTo>
                  <a:lnTo>
                    <a:pt x="2561392" y="219803"/>
                  </a:lnTo>
                  <a:lnTo>
                    <a:pt x="2539439" y="181566"/>
                  </a:lnTo>
                  <a:lnTo>
                    <a:pt x="2517230" y="143720"/>
                  </a:lnTo>
                  <a:lnTo>
                    <a:pt x="2494768" y="106268"/>
                  </a:lnTo>
                  <a:lnTo>
                    <a:pt x="2472055" y="69215"/>
                  </a:lnTo>
                  <a:lnTo>
                    <a:pt x="24249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7022" y="1513078"/>
            <a:ext cx="2301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Business</a:t>
            </a:r>
            <a:r>
              <a:rPr sz="2400" spc="-50" dirty="0"/>
              <a:t> </a:t>
            </a:r>
            <a:r>
              <a:rPr sz="2400" spc="-10" dirty="0"/>
              <a:t>Objective</a:t>
            </a:r>
            <a:endParaRPr sz="2400"/>
          </a:p>
        </p:txBody>
      </p:sp>
      <p:grpSp>
        <p:nvGrpSpPr>
          <p:cNvPr id="8" name="object 8"/>
          <p:cNvGrpSpPr/>
          <p:nvPr/>
        </p:nvGrpSpPr>
        <p:grpSpPr>
          <a:xfrm>
            <a:off x="318515" y="844296"/>
            <a:ext cx="2505710" cy="1617345"/>
            <a:chOff x="318515" y="844296"/>
            <a:chExt cx="2505710" cy="1617345"/>
          </a:xfrm>
        </p:grpSpPr>
        <p:sp>
          <p:nvSpPr>
            <p:cNvPr id="9" name="object 9"/>
            <p:cNvSpPr/>
            <p:nvPr/>
          </p:nvSpPr>
          <p:spPr>
            <a:xfrm>
              <a:off x="318515" y="844296"/>
              <a:ext cx="411480" cy="73660"/>
            </a:xfrm>
            <a:custGeom>
              <a:avLst/>
              <a:gdLst/>
              <a:ahLst/>
              <a:cxnLst/>
              <a:rect l="l" t="t" r="r" b="b"/>
              <a:pathLst>
                <a:path w="411480" h="73659">
                  <a:moveTo>
                    <a:pt x="41148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1480" y="73151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563" y="2442972"/>
              <a:ext cx="2502535" cy="18415"/>
            </a:xfrm>
            <a:custGeom>
              <a:avLst/>
              <a:gdLst/>
              <a:ahLst/>
              <a:cxnLst/>
              <a:rect l="l" t="t" r="r" b="b"/>
              <a:pathLst>
                <a:path w="2502535" h="18414">
                  <a:moveTo>
                    <a:pt x="2502408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2502408" y="18287"/>
                  </a:lnTo>
                  <a:lnTo>
                    <a:pt x="2502408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7022" y="2728416"/>
            <a:ext cx="2724785" cy="317182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84785" marR="37465" indent="-172720">
              <a:lnSpc>
                <a:spcPct val="90000"/>
              </a:lnSpc>
              <a:spcBef>
                <a:spcPts val="245"/>
              </a:spcBef>
              <a:buChar char="•"/>
              <a:tabLst>
                <a:tab pos="185420" algn="l"/>
              </a:tabLst>
            </a:pPr>
            <a:r>
              <a:rPr sz="1200" dirty="0">
                <a:latin typeface="Arial MT"/>
                <a:cs typeface="Arial MT"/>
              </a:rPr>
              <a:t>This case study aims to identify 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patterns </a:t>
            </a:r>
            <a:r>
              <a:rPr sz="1200" spc="-5" dirty="0">
                <a:latin typeface="Arial MT"/>
                <a:cs typeface="Arial MT"/>
              </a:rPr>
              <a:t>which </a:t>
            </a:r>
            <a:r>
              <a:rPr sz="1200" dirty="0">
                <a:latin typeface="Arial MT"/>
                <a:cs typeface="Arial MT"/>
              </a:rPr>
              <a:t>indicate if a client has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difficulty paying </a:t>
            </a:r>
            <a:r>
              <a:rPr sz="1200" dirty="0">
                <a:latin typeface="Arial MT"/>
                <a:cs typeface="Arial MT"/>
              </a:rPr>
              <a:t>their </a:t>
            </a:r>
            <a:r>
              <a:rPr sz="1200" spc="-5" dirty="0">
                <a:latin typeface="Arial MT"/>
                <a:cs typeface="Arial MT"/>
              </a:rPr>
              <a:t>instalments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which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may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used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taking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actions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such as denying </a:t>
            </a:r>
            <a:r>
              <a:rPr sz="1200" dirty="0">
                <a:latin typeface="Arial MT"/>
                <a:cs typeface="Arial MT"/>
              </a:rPr>
              <a:t>the loan, </a:t>
            </a:r>
            <a:r>
              <a:rPr sz="1200" spc="-5" dirty="0">
                <a:latin typeface="Arial MT"/>
                <a:cs typeface="Arial MT"/>
              </a:rPr>
              <a:t>reducing </a:t>
            </a:r>
            <a:r>
              <a:rPr sz="1200" dirty="0">
                <a:latin typeface="Arial MT"/>
                <a:cs typeface="Arial MT"/>
              </a:rPr>
              <a:t> the </a:t>
            </a:r>
            <a:r>
              <a:rPr sz="1200" spc="-5" dirty="0">
                <a:latin typeface="Arial MT"/>
                <a:cs typeface="Arial MT"/>
              </a:rPr>
              <a:t>amount </a:t>
            </a:r>
            <a:r>
              <a:rPr sz="1200" dirty="0">
                <a:latin typeface="Arial MT"/>
                <a:cs typeface="Arial MT"/>
              </a:rPr>
              <a:t>of loan, lending (to </a:t>
            </a:r>
            <a:r>
              <a:rPr sz="1200" spc="-5" dirty="0">
                <a:latin typeface="Arial MT"/>
                <a:cs typeface="Arial MT"/>
              </a:rPr>
              <a:t>risky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applicants) </a:t>
            </a:r>
            <a:r>
              <a:rPr sz="1200" dirty="0">
                <a:latin typeface="Arial MT"/>
                <a:cs typeface="Arial MT"/>
              </a:rPr>
              <a:t>at </a:t>
            </a:r>
            <a:r>
              <a:rPr sz="1200" spc="-5" dirty="0">
                <a:latin typeface="Arial MT"/>
                <a:cs typeface="Arial MT"/>
              </a:rPr>
              <a:t>a higher </a:t>
            </a:r>
            <a:r>
              <a:rPr sz="1200" dirty="0">
                <a:latin typeface="Arial MT"/>
                <a:cs typeface="Arial MT"/>
              </a:rPr>
              <a:t>interest rate, 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etc. This </a:t>
            </a:r>
            <a:r>
              <a:rPr sz="1200" spc="-10" dirty="0">
                <a:latin typeface="Arial MT"/>
                <a:cs typeface="Arial MT"/>
              </a:rPr>
              <a:t>will </a:t>
            </a:r>
            <a:r>
              <a:rPr sz="1200" spc="-5" dirty="0">
                <a:latin typeface="Arial MT"/>
                <a:cs typeface="Arial MT"/>
              </a:rPr>
              <a:t>ensure </a:t>
            </a:r>
            <a:r>
              <a:rPr sz="1200" dirty="0">
                <a:latin typeface="Arial MT"/>
                <a:cs typeface="Arial MT"/>
              </a:rPr>
              <a:t>that the 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consumers capable </a:t>
            </a:r>
            <a:r>
              <a:rPr sz="1200" dirty="0">
                <a:latin typeface="Arial MT"/>
                <a:cs typeface="Arial MT"/>
              </a:rPr>
              <a:t>of </a:t>
            </a:r>
            <a:r>
              <a:rPr sz="1200" spc="-5" dirty="0">
                <a:latin typeface="Arial MT"/>
                <a:cs typeface="Arial MT"/>
              </a:rPr>
              <a:t>repaying </a:t>
            </a:r>
            <a:r>
              <a:rPr sz="1200" dirty="0">
                <a:latin typeface="Arial MT"/>
                <a:cs typeface="Arial MT"/>
              </a:rPr>
              <a:t>the 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not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rejected.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Identification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applicants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using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EDA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aim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 </a:t>
            </a:r>
            <a:r>
              <a:rPr sz="1200" spc="-5" dirty="0">
                <a:latin typeface="Arial MT"/>
                <a:cs typeface="Arial MT"/>
              </a:rPr>
              <a:t>case</a:t>
            </a:r>
            <a:r>
              <a:rPr sz="1200" spc="-20" dirty="0">
                <a:latin typeface="Arial MT"/>
                <a:cs typeface="Arial MT"/>
              </a:rPr>
              <a:t> study.</a:t>
            </a:r>
            <a:endParaRPr sz="1200">
              <a:latin typeface="Arial MT"/>
              <a:cs typeface="Arial MT"/>
            </a:endParaRPr>
          </a:p>
          <a:p>
            <a:pPr marL="184785" marR="5080">
              <a:lnSpc>
                <a:spcPts val="1300"/>
              </a:lnSpc>
              <a:spcBef>
                <a:spcPts val="15"/>
              </a:spcBef>
            </a:pP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other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words, 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company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wants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 </a:t>
            </a:r>
            <a:r>
              <a:rPr sz="1200" spc="-3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understand </a:t>
            </a:r>
            <a:r>
              <a:rPr sz="1200" dirty="0">
                <a:latin typeface="Arial MT"/>
                <a:cs typeface="Arial MT"/>
              </a:rPr>
              <a:t>the </a:t>
            </a:r>
            <a:r>
              <a:rPr sz="1200" spc="-5" dirty="0">
                <a:latin typeface="Arial MT"/>
                <a:cs typeface="Arial MT"/>
              </a:rPr>
              <a:t>driving </a:t>
            </a:r>
            <a:r>
              <a:rPr sz="1200" dirty="0">
                <a:latin typeface="Arial MT"/>
                <a:cs typeface="Arial MT"/>
              </a:rPr>
              <a:t>factors </a:t>
            </a:r>
            <a:r>
              <a:rPr sz="1200" spc="-5" dirty="0">
                <a:latin typeface="Arial MT"/>
                <a:cs typeface="Arial MT"/>
              </a:rPr>
              <a:t>(or 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driver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variables)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behind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loan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default,</a:t>
            </a:r>
            <a:endParaRPr sz="1200">
              <a:latin typeface="Arial MT"/>
              <a:cs typeface="Arial MT"/>
            </a:endParaRPr>
          </a:p>
          <a:p>
            <a:pPr marL="184785">
              <a:lnSpc>
                <a:spcPts val="1195"/>
              </a:lnSpc>
            </a:pPr>
            <a:r>
              <a:rPr sz="1200" dirty="0">
                <a:latin typeface="Arial MT"/>
                <a:cs typeface="Arial MT"/>
              </a:rPr>
              <a:t>i.e.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variables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which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strong</a:t>
            </a:r>
            <a:endParaRPr sz="1200">
              <a:latin typeface="Arial MT"/>
              <a:cs typeface="Arial MT"/>
            </a:endParaRPr>
          </a:p>
          <a:p>
            <a:pPr marL="184785" marR="208279">
              <a:lnSpc>
                <a:spcPts val="1300"/>
              </a:lnSpc>
              <a:spcBef>
                <a:spcPts val="90"/>
              </a:spcBef>
            </a:pPr>
            <a:r>
              <a:rPr sz="1200" dirty="0">
                <a:latin typeface="Arial MT"/>
                <a:cs typeface="Arial MT"/>
              </a:rPr>
              <a:t>indicators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default.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company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can utilise </a:t>
            </a:r>
            <a:r>
              <a:rPr sz="1200" dirty="0">
                <a:latin typeface="Arial MT"/>
                <a:cs typeface="Arial MT"/>
              </a:rPr>
              <a:t>this </a:t>
            </a:r>
            <a:r>
              <a:rPr sz="1200" spc="-5" dirty="0">
                <a:latin typeface="Arial MT"/>
                <a:cs typeface="Arial MT"/>
              </a:rPr>
              <a:t>knowledge </a:t>
            </a:r>
            <a:r>
              <a:rPr sz="1200" dirty="0">
                <a:latin typeface="Arial MT"/>
                <a:cs typeface="Arial MT"/>
              </a:rPr>
              <a:t>for its 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portfolio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risk </a:t>
            </a:r>
            <a:r>
              <a:rPr sz="1200" dirty="0">
                <a:latin typeface="Arial MT"/>
                <a:cs typeface="Arial MT"/>
              </a:rPr>
              <a:t>assessment.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30422" y="2799465"/>
            <a:ext cx="1024890" cy="1025525"/>
            <a:chOff x="4830422" y="2799465"/>
            <a:chExt cx="1024890" cy="1025525"/>
          </a:xfrm>
        </p:grpSpPr>
        <p:sp>
          <p:nvSpPr>
            <p:cNvPr id="13" name="object 13"/>
            <p:cNvSpPr/>
            <p:nvPr/>
          </p:nvSpPr>
          <p:spPr>
            <a:xfrm>
              <a:off x="4861616" y="2830658"/>
              <a:ext cx="962660" cy="963294"/>
            </a:xfrm>
            <a:custGeom>
              <a:avLst/>
              <a:gdLst/>
              <a:ahLst/>
              <a:cxnLst/>
              <a:rect l="l" t="t" r="r" b="b"/>
              <a:pathLst>
                <a:path w="962660" h="963295">
                  <a:moveTo>
                    <a:pt x="481138" y="0"/>
                  </a:moveTo>
                  <a:lnTo>
                    <a:pt x="431942" y="2485"/>
                  </a:lnTo>
                  <a:lnTo>
                    <a:pt x="384167" y="9779"/>
                  </a:lnTo>
                  <a:lnTo>
                    <a:pt x="338056" y="21641"/>
                  </a:lnTo>
                  <a:lnTo>
                    <a:pt x="293851" y="37828"/>
                  </a:lnTo>
                  <a:lnTo>
                    <a:pt x="251792" y="58099"/>
                  </a:lnTo>
                  <a:lnTo>
                    <a:pt x="212122" y="82212"/>
                  </a:lnTo>
                  <a:lnTo>
                    <a:pt x="175083" y="109924"/>
                  </a:lnTo>
                  <a:lnTo>
                    <a:pt x="140916" y="140994"/>
                  </a:lnTo>
                  <a:lnTo>
                    <a:pt x="109863" y="175179"/>
                  </a:lnTo>
                  <a:lnTo>
                    <a:pt x="82166" y="212239"/>
                  </a:lnTo>
                  <a:lnTo>
                    <a:pt x="58067" y="251931"/>
                  </a:lnTo>
                  <a:lnTo>
                    <a:pt x="37808" y="294012"/>
                  </a:lnTo>
                  <a:lnTo>
                    <a:pt x="21629" y="338242"/>
                  </a:lnTo>
                  <a:lnTo>
                    <a:pt x="9774" y="384379"/>
                  </a:lnTo>
                  <a:lnTo>
                    <a:pt x="2483" y="432179"/>
                  </a:lnTo>
                  <a:lnTo>
                    <a:pt x="0" y="481402"/>
                  </a:lnTo>
                  <a:lnTo>
                    <a:pt x="2483" y="530625"/>
                  </a:lnTo>
                  <a:lnTo>
                    <a:pt x="9774" y="578426"/>
                  </a:lnTo>
                  <a:lnTo>
                    <a:pt x="21629" y="624562"/>
                  </a:lnTo>
                  <a:lnTo>
                    <a:pt x="37808" y="668792"/>
                  </a:lnTo>
                  <a:lnTo>
                    <a:pt x="58067" y="710874"/>
                  </a:lnTo>
                  <a:lnTo>
                    <a:pt x="82167" y="750566"/>
                  </a:lnTo>
                  <a:lnTo>
                    <a:pt x="109863" y="787625"/>
                  </a:lnTo>
                  <a:lnTo>
                    <a:pt x="140916" y="821811"/>
                  </a:lnTo>
                  <a:lnTo>
                    <a:pt x="175083" y="852881"/>
                  </a:lnTo>
                  <a:lnTo>
                    <a:pt x="212122" y="880593"/>
                  </a:lnTo>
                  <a:lnTo>
                    <a:pt x="251792" y="904705"/>
                  </a:lnTo>
                  <a:lnTo>
                    <a:pt x="293851" y="924976"/>
                  </a:lnTo>
                  <a:lnTo>
                    <a:pt x="338056" y="941163"/>
                  </a:lnTo>
                  <a:lnTo>
                    <a:pt x="384167" y="953025"/>
                  </a:lnTo>
                  <a:lnTo>
                    <a:pt x="431942" y="960320"/>
                  </a:lnTo>
                  <a:lnTo>
                    <a:pt x="481138" y="962805"/>
                  </a:lnTo>
                  <a:lnTo>
                    <a:pt x="530334" y="960320"/>
                  </a:lnTo>
                  <a:lnTo>
                    <a:pt x="578108" y="953025"/>
                  </a:lnTo>
                  <a:lnTo>
                    <a:pt x="624219" y="941163"/>
                  </a:lnTo>
                  <a:lnTo>
                    <a:pt x="668424" y="924976"/>
                  </a:lnTo>
                  <a:lnTo>
                    <a:pt x="710483" y="904705"/>
                  </a:lnTo>
                  <a:lnTo>
                    <a:pt x="750153" y="880593"/>
                  </a:lnTo>
                  <a:lnTo>
                    <a:pt x="787192" y="852881"/>
                  </a:lnTo>
                  <a:lnTo>
                    <a:pt x="821359" y="821811"/>
                  </a:lnTo>
                  <a:lnTo>
                    <a:pt x="852412" y="787625"/>
                  </a:lnTo>
                  <a:lnTo>
                    <a:pt x="880109" y="750566"/>
                  </a:lnTo>
                  <a:lnTo>
                    <a:pt x="904208" y="710874"/>
                  </a:lnTo>
                  <a:lnTo>
                    <a:pt x="924467" y="668792"/>
                  </a:lnTo>
                  <a:lnTo>
                    <a:pt x="940646" y="624562"/>
                  </a:lnTo>
                  <a:lnTo>
                    <a:pt x="952501" y="578426"/>
                  </a:lnTo>
                  <a:lnTo>
                    <a:pt x="959792" y="530625"/>
                  </a:lnTo>
                  <a:lnTo>
                    <a:pt x="962276" y="481402"/>
                  </a:lnTo>
                  <a:lnTo>
                    <a:pt x="959792" y="432179"/>
                  </a:lnTo>
                  <a:lnTo>
                    <a:pt x="952501" y="384379"/>
                  </a:lnTo>
                  <a:lnTo>
                    <a:pt x="940646" y="338242"/>
                  </a:lnTo>
                  <a:lnTo>
                    <a:pt x="924467" y="294013"/>
                  </a:lnTo>
                  <a:lnTo>
                    <a:pt x="904208" y="251931"/>
                  </a:lnTo>
                  <a:lnTo>
                    <a:pt x="880109" y="212239"/>
                  </a:lnTo>
                  <a:lnTo>
                    <a:pt x="852412" y="175179"/>
                  </a:lnTo>
                  <a:lnTo>
                    <a:pt x="821359" y="140994"/>
                  </a:lnTo>
                  <a:lnTo>
                    <a:pt x="787192" y="109924"/>
                  </a:lnTo>
                  <a:lnTo>
                    <a:pt x="750153" y="82212"/>
                  </a:lnTo>
                  <a:lnTo>
                    <a:pt x="710483" y="58099"/>
                  </a:lnTo>
                  <a:lnTo>
                    <a:pt x="668424" y="37828"/>
                  </a:lnTo>
                  <a:lnTo>
                    <a:pt x="624219" y="21641"/>
                  </a:lnTo>
                  <a:lnTo>
                    <a:pt x="578108" y="9779"/>
                  </a:lnTo>
                  <a:lnTo>
                    <a:pt x="530333" y="2485"/>
                  </a:lnTo>
                  <a:lnTo>
                    <a:pt x="48113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1616" y="2830658"/>
              <a:ext cx="962660" cy="963294"/>
            </a:xfrm>
            <a:custGeom>
              <a:avLst/>
              <a:gdLst/>
              <a:ahLst/>
              <a:cxnLst/>
              <a:rect l="l" t="t" r="r" b="b"/>
              <a:pathLst>
                <a:path w="962660" h="963295">
                  <a:moveTo>
                    <a:pt x="962276" y="481402"/>
                  </a:moveTo>
                  <a:lnTo>
                    <a:pt x="959792" y="530625"/>
                  </a:lnTo>
                  <a:lnTo>
                    <a:pt x="952501" y="578426"/>
                  </a:lnTo>
                  <a:lnTo>
                    <a:pt x="940646" y="624562"/>
                  </a:lnTo>
                  <a:lnTo>
                    <a:pt x="924467" y="668792"/>
                  </a:lnTo>
                  <a:lnTo>
                    <a:pt x="904208" y="710874"/>
                  </a:lnTo>
                  <a:lnTo>
                    <a:pt x="880109" y="750566"/>
                  </a:lnTo>
                  <a:lnTo>
                    <a:pt x="852412" y="787625"/>
                  </a:lnTo>
                  <a:lnTo>
                    <a:pt x="821359" y="821811"/>
                  </a:lnTo>
                  <a:lnTo>
                    <a:pt x="787192" y="852881"/>
                  </a:lnTo>
                  <a:lnTo>
                    <a:pt x="750153" y="880593"/>
                  </a:lnTo>
                  <a:lnTo>
                    <a:pt x="710483" y="904705"/>
                  </a:lnTo>
                  <a:lnTo>
                    <a:pt x="668424" y="924976"/>
                  </a:lnTo>
                  <a:lnTo>
                    <a:pt x="624219" y="941163"/>
                  </a:lnTo>
                  <a:lnTo>
                    <a:pt x="578108" y="953025"/>
                  </a:lnTo>
                  <a:lnTo>
                    <a:pt x="530334" y="960320"/>
                  </a:lnTo>
                  <a:lnTo>
                    <a:pt x="481138" y="962805"/>
                  </a:lnTo>
                  <a:lnTo>
                    <a:pt x="431942" y="960320"/>
                  </a:lnTo>
                  <a:lnTo>
                    <a:pt x="384167" y="953025"/>
                  </a:lnTo>
                  <a:lnTo>
                    <a:pt x="338056" y="941163"/>
                  </a:lnTo>
                  <a:lnTo>
                    <a:pt x="293851" y="924976"/>
                  </a:lnTo>
                  <a:lnTo>
                    <a:pt x="251792" y="904705"/>
                  </a:lnTo>
                  <a:lnTo>
                    <a:pt x="212122" y="880593"/>
                  </a:lnTo>
                  <a:lnTo>
                    <a:pt x="175083" y="852881"/>
                  </a:lnTo>
                  <a:lnTo>
                    <a:pt x="140916" y="821811"/>
                  </a:lnTo>
                  <a:lnTo>
                    <a:pt x="109863" y="787625"/>
                  </a:lnTo>
                  <a:lnTo>
                    <a:pt x="82167" y="750566"/>
                  </a:lnTo>
                  <a:lnTo>
                    <a:pt x="58067" y="710874"/>
                  </a:lnTo>
                  <a:lnTo>
                    <a:pt x="37808" y="668792"/>
                  </a:lnTo>
                  <a:lnTo>
                    <a:pt x="21629" y="624562"/>
                  </a:lnTo>
                  <a:lnTo>
                    <a:pt x="9774" y="578426"/>
                  </a:lnTo>
                  <a:lnTo>
                    <a:pt x="2483" y="530625"/>
                  </a:lnTo>
                  <a:lnTo>
                    <a:pt x="0" y="481402"/>
                  </a:lnTo>
                  <a:lnTo>
                    <a:pt x="2483" y="432179"/>
                  </a:lnTo>
                  <a:lnTo>
                    <a:pt x="9774" y="384379"/>
                  </a:lnTo>
                  <a:lnTo>
                    <a:pt x="21629" y="338242"/>
                  </a:lnTo>
                  <a:lnTo>
                    <a:pt x="37808" y="294012"/>
                  </a:lnTo>
                  <a:lnTo>
                    <a:pt x="58067" y="251931"/>
                  </a:lnTo>
                  <a:lnTo>
                    <a:pt x="82166" y="212239"/>
                  </a:lnTo>
                  <a:lnTo>
                    <a:pt x="109863" y="175179"/>
                  </a:lnTo>
                  <a:lnTo>
                    <a:pt x="140916" y="140994"/>
                  </a:lnTo>
                  <a:lnTo>
                    <a:pt x="175083" y="109924"/>
                  </a:lnTo>
                  <a:lnTo>
                    <a:pt x="212122" y="82212"/>
                  </a:lnTo>
                  <a:lnTo>
                    <a:pt x="251792" y="58099"/>
                  </a:lnTo>
                  <a:lnTo>
                    <a:pt x="293851" y="37828"/>
                  </a:lnTo>
                  <a:lnTo>
                    <a:pt x="338056" y="21641"/>
                  </a:lnTo>
                  <a:lnTo>
                    <a:pt x="384167" y="9779"/>
                  </a:lnTo>
                  <a:lnTo>
                    <a:pt x="431942" y="2485"/>
                  </a:lnTo>
                  <a:lnTo>
                    <a:pt x="481138" y="0"/>
                  </a:lnTo>
                  <a:lnTo>
                    <a:pt x="530333" y="2485"/>
                  </a:lnTo>
                  <a:lnTo>
                    <a:pt x="578108" y="9779"/>
                  </a:lnTo>
                  <a:lnTo>
                    <a:pt x="624219" y="21641"/>
                  </a:lnTo>
                  <a:lnTo>
                    <a:pt x="668424" y="37828"/>
                  </a:lnTo>
                  <a:lnTo>
                    <a:pt x="710483" y="58099"/>
                  </a:lnTo>
                  <a:lnTo>
                    <a:pt x="750153" y="82212"/>
                  </a:lnTo>
                  <a:lnTo>
                    <a:pt x="787192" y="109924"/>
                  </a:lnTo>
                  <a:lnTo>
                    <a:pt x="821359" y="140994"/>
                  </a:lnTo>
                  <a:lnTo>
                    <a:pt x="852412" y="175179"/>
                  </a:lnTo>
                  <a:lnTo>
                    <a:pt x="880109" y="212239"/>
                  </a:lnTo>
                  <a:lnTo>
                    <a:pt x="904208" y="251931"/>
                  </a:lnTo>
                  <a:lnTo>
                    <a:pt x="924467" y="294013"/>
                  </a:lnTo>
                  <a:lnTo>
                    <a:pt x="940646" y="338242"/>
                  </a:lnTo>
                  <a:lnTo>
                    <a:pt x="952501" y="384379"/>
                  </a:lnTo>
                  <a:lnTo>
                    <a:pt x="959792" y="432179"/>
                  </a:lnTo>
                  <a:lnTo>
                    <a:pt x="962276" y="481402"/>
                  </a:lnTo>
                </a:path>
              </a:pathLst>
            </a:custGeom>
            <a:ln w="62386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349282" y="3890641"/>
            <a:ext cx="1443355" cy="1025525"/>
            <a:chOff x="4349282" y="3890641"/>
            <a:chExt cx="1443355" cy="1025525"/>
          </a:xfrm>
        </p:grpSpPr>
        <p:sp>
          <p:nvSpPr>
            <p:cNvPr id="16" name="object 16"/>
            <p:cNvSpPr/>
            <p:nvPr/>
          </p:nvSpPr>
          <p:spPr>
            <a:xfrm>
              <a:off x="4380478" y="3921838"/>
              <a:ext cx="1381125" cy="963294"/>
            </a:xfrm>
            <a:custGeom>
              <a:avLst/>
              <a:gdLst/>
              <a:ahLst/>
              <a:cxnLst/>
              <a:rect l="l" t="t" r="r" b="b"/>
              <a:pathLst>
                <a:path w="1381125" h="963295">
                  <a:moveTo>
                    <a:pt x="962276" y="0"/>
                  </a:moveTo>
                  <a:lnTo>
                    <a:pt x="861715" y="4274"/>
                  </a:lnTo>
                  <a:lnTo>
                    <a:pt x="761952" y="16447"/>
                  </a:lnTo>
                  <a:lnTo>
                    <a:pt x="663450" y="36443"/>
                  </a:lnTo>
                  <a:lnTo>
                    <a:pt x="516777" y="80165"/>
                  </a:lnTo>
                  <a:lnTo>
                    <a:pt x="418655" y="116559"/>
                  </a:lnTo>
                  <a:lnTo>
                    <a:pt x="322980" y="158762"/>
                  </a:lnTo>
                  <a:lnTo>
                    <a:pt x="230016" y="206646"/>
                  </a:lnTo>
                  <a:lnTo>
                    <a:pt x="140025" y="260081"/>
                  </a:lnTo>
                  <a:lnTo>
                    <a:pt x="96227" y="288841"/>
                  </a:lnTo>
                  <a:lnTo>
                    <a:pt x="62184" y="318513"/>
                  </a:lnTo>
                  <a:lnTo>
                    <a:pt x="34962" y="353754"/>
                  </a:lnTo>
                  <a:lnTo>
                    <a:pt x="15139" y="393415"/>
                  </a:lnTo>
                  <a:lnTo>
                    <a:pt x="3293" y="436347"/>
                  </a:lnTo>
                  <a:lnTo>
                    <a:pt x="0" y="481402"/>
                  </a:lnTo>
                  <a:lnTo>
                    <a:pt x="0" y="962805"/>
                  </a:lnTo>
                  <a:lnTo>
                    <a:pt x="488492" y="962805"/>
                  </a:lnTo>
                  <a:lnTo>
                    <a:pt x="1380867" y="70440"/>
                  </a:lnTo>
                  <a:lnTo>
                    <a:pt x="1260719" y="38411"/>
                  </a:lnTo>
                  <a:lnTo>
                    <a:pt x="1162182" y="19088"/>
                  </a:lnTo>
                  <a:lnTo>
                    <a:pt x="1062592" y="6268"/>
                  </a:lnTo>
                  <a:lnTo>
                    <a:pt x="96227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80478" y="3921838"/>
              <a:ext cx="1381125" cy="963294"/>
            </a:xfrm>
            <a:custGeom>
              <a:avLst/>
              <a:gdLst/>
              <a:ahLst/>
              <a:cxnLst/>
              <a:rect l="l" t="t" r="r" b="b"/>
              <a:pathLst>
                <a:path w="1381125" h="963295">
                  <a:moveTo>
                    <a:pt x="1380867" y="70440"/>
                  </a:moveTo>
                  <a:lnTo>
                    <a:pt x="1357878" y="64187"/>
                  </a:lnTo>
                  <a:lnTo>
                    <a:pt x="1309491" y="50496"/>
                  </a:lnTo>
                  <a:lnTo>
                    <a:pt x="1260719" y="38411"/>
                  </a:lnTo>
                  <a:lnTo>
                    <a:pt x="1211602" y="27940"/>
                  </a:lnTo>
                  <a:lnTo>
                    <a:pt x="1162182" y="19088"/>
                  </a:lnTo>
                  <a:lnTo>
                    <a:pt x="1112498" y="11862"/>
                  </a:lnTo>
                  <a:lnTo>
                    <a:pt x="1062592" y="6268"/>
                  </a:lnTo>
                  <a:lnTo>
                    <a:pt x="1012504" y="2311"/>
                  </a:lnTo>
                  <a:lnTo>
                    <a:pt x="962276" y="0"/>
                  </a:lnTo>
                  <a:lnTo>
                    <a:pt x="911924" y="1145"/>
                  </a:lnTo>
                  <a:lnTo>
                    <a:pt x="861715" y="4274"/>
                  </a:lnTo>
                  <a:lnTo>
                    <a:pt x="811705" y="9378"/>
                  </a:lnTo>
                  <a:lnTo>
                    <a:pt x="761952" y="16447"/>
                  </a:lnTo>
                  <a:lnTo>
                    <a:pt x="712514" y="25472"/>
                  </a:lnTo>
                  <a:lnTo>
                    <a:pt x="663450" y="36443"/>
                  </a:lnTo>
                  <a:lnTo>
                    <a:pt x="614817" y="49351"/>
                  </a:lnTo>
                  <a:lnTo>
                    <a:pt x="566673" y="64187"/>
                  </a:lnTo>
                  <a:lnTo>
                    <a:pt x="516777" y="80165"/>
                  </a:lnTo>
                  <a:lnTo>
                    <a:pt x="467426" y="97628"/>
                  </a:lnTo>
                  <a:lnTo>
                    <a:pt x="418655" y="116559"/>
                  </a:lnTo>
                  <a:lnTo>
                    <a:pt x="370495" y="136943"/>
                  </a:lnTo>
                  <a:lnTo>
                    <a:pt x="322980" y="158762"/>
                  </a:lnTo>
                  <a:lnTo>
                    <a:pt x="276143" y="182002"/>
                  </a:lnTo>
                  <a:lnTo>
                    <a:pt x="230016" y="206646"/>
                  </a:lnTo>
                  <a:lnTo>
                    <a:pt x="184632" y="232678"/>
                  </a:lnTo>
                  <a:lnTo>
                    <a:pt x="140025" y="260081"/>
                  </a:lnTo>
                  <a:lnTo>
                    <a:pt x="96227" y="288841"/>
                  </a:lnTo>
                  <a:lnTo>
                    <a:pt x="62184" y="318513"/>
                  </a:lnTo>
                  <a:lnTo>
                    <a:pt x="34962" y="353754"/>
                  </a:lnTo>
                  <a:lnTo>
                    <a:pt x="15139" y="393415"/>
                  </a:lnTo>
                  <a:lnTo>
                    <a:pt x="3293" y="436347"/>
                  </a:lnTo>
                  <a:lnTo>
                    <a:pt x="0" y="481402"/>
                  </a:lnTo>
                  <a:lnTo>
                    <a:pt x="0" y="962805"/>
                  </a:lnTo>
                  <a:lnTo>
                    <a:pt x="488492" y="962805"/>
                  </a:lnTo>
                </a:path>
              </a:pathLst>
            </a:custGeom>
            <a:ln w="62392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899618" y="1323162"/>
            <a:ext cx="2305050" cy="2099310"/>
            <a:chOff x="5899618" y="1323162"/>
            <a:chExt cx="2305050" cy="2099310"/>
          </a:xfrm>
        </p:grpSpPr>
        <p:sp>
          <p:nvSpPr>
            <p:cNvPr id="19" name="object 19"/>
            <p:cNvSpPr/>
            <p:nvPr/>
          </p:nvSpPr>
          <p:spPr>
            <a:xfrm>
              <a:off x="5930812" y="1354356"/>
              <a:ext cx="2242820" cy="2037080"/>
            </a:xfrm>
            <a:custGeom>
              <a:avLst/>
              <a:gdLst/>
              <a:ahLst/>
              <a:cxnLst/>
              <a:rect l="l" t="t" r="r" b="b"/>
              <a:pathLst>
                <a:path w="2242820" h="2037079">
                  <a:moveTo>
                    <a:pt x="2130372" y="0"/>
                  </a:moveTo>
                  <a:lnTo>
                    <a:pt x="111196" y="0"/>
                  </a:lnTo>
                  <a:lnTo>
                    <a:pt x="67710" y="9095"/>
                  </a:lnTo>
                  <a:lnTo>
                    <a:pt x="32309" y="33319"/>
                  </a:lnTo>
                  <a:lnTo>
                    <a:pt x="8553" y="69076"/>
                  </a:lnTo>
                  <a:lnTo>
                    <a:pt x="0" y="112773"/>
                  </a:lnTo>
                  <a:lnTo>
                    <a:pt x="0" y="1490209"/>
                  </a:lnTo>
                  <a:lnTo>
                    <a:pt x="7978" y="1534101"/>
                  </a:lnTo>
                  <a:lnTo>
                    <a:pt x="31352" y="1570259"/>
                  </a:lnTo>
                  <a:lnTo>
                    <a:pt x="66570" y="1595008"/>
                  </a:lnTo>
                  <a:lnTo>
                    <a:pt x="110082" y="1604676"/>
                  </a:lnTo>
                  <a:lnTo>
                    <a:pt x="431955" y="1604676"/>
                  </a:lnTo>
                  <a:lnTo>
                    <a:pt x="431955" y="2036508"/>
                  </a:lnTo>
                  <a:lnTo>
                    <a:pt x="1072289" y="1396182"/>
                  </a:lnTo>
                  <a:lnTo>
                    <a:pt x="1065238" y="1394758"/>
                  </a:lnTo>
                  <a:lnTo>
                    <a:pt x="1027513" y="1369306"/>
                  </a:lnTo>
                  <a:lnTo>
                    <a:pt x="1002076" y="1331561"/>
                  </a:lnTo>
                  <a:lnTo>
                    <a:pt x="992748" y="1285345"/>
                  </a:lnTo>
                  <a:lnTo>
                    <a:pt x="1002076" y="1239110"/>
                  </a:lnTo>
                  <a:lnTo>
                    <a:pt x="1027513" y="1201367"/>
                  </a:lnTo>
                  <a:lnTo>
                    <a:pt x="1065238" y="1175926"/>
                  </a:lnTo>
                  <a:lnTo>
                    <a:pt x="1111428" y="1166599"/>
                  </a:lnTo>
                  <a:lnTo>
                    <a:pt x="1301875" y="1166599"/>
                  </a:lnTo>
                  <a:lnTo>
                    <a:pt x="1385319" y="1083156"/>
                  </a:lnTo>
                  <a:lnTo>
                    <a:pt x="1035516" y="1083156"/>
                  </a:lnTo>
                  <a:lnTo>
                    <a:pt x="1035516" y="768104"/>
                  </a:lnTo>
                  <a:lnTo>
                    <a:pt x="1111428" y="768104"/>
                  </a:lnTo>
                  <a:lnTo>
                    <a:pt x="1165256" y="763460"/>
                  </a:lnTo>
                  <a:lnTo>
                    <a:pt x="1212650" y="749946"/>
                  </a:lnTo>
                  <a:lnTo>
                    <a:pt x="1252936" y="728189"/>
                  </a:lnTo>
                  <a:lnTo>
                    <a:pt x="1285442" y="698815"/>
                  </a:lnTo>
                  <a:lnTo>
                    <a:pt x="1309495" y="662452"/>
                  </a:lnTo>
                  <a:lnTo>
                    <a:pt x="1324420" y="619726"/>
                  </a:lnTo>
                  <a:lnTo>
                    <a:pt x="1328130" y="584636"/>
                  </a:lnTo>
                  <a:lnTo>
                    <a:pt x="741487" y="584636"/>
                  </a:lnTo>
                  <a:lnTo>
                    <a:pt x="741556" y="562023"/>
                  </a:lnTo>
                  <a:lnTo>
                    <a:pt x="741842" y="523619"/>
                  </a:lnTo>
                  <a:lnTo>
                    <a:pt x="748416" y="477549"/>
                  </a:lnTo>
                  <a:lnTo>
                    <a:pt x="760818" y="433494"/>
                  </a:lnTo>
                  <a:lnTo>
                    <a:pt x="778656" y="391897"/>
                  </a:lnTo>
                  <a:lnTo>
                    <a:pt x="801540" y="353199"/>
                  </a:lnTo>
                  <a:lnTo>
                    <a:pt x="829077" y="317842"/>
                  </a:lnTo>
                  <a:lnTo>
                    <a:pt x="860878" y="286268"/>
                  </a:lnTo>
                  <a:lnTo>
                    <a:pt x="896550" y="258917"/>
                  </a:lnTo>
                  <a:lnTo>
                    <a:pt x="935702" y="236232"/>
                  </a:lnTo>
                  <a:lnTo>
                    <a:pt x="977944" y="218653"/>
                  </a:lnTo>
                  <a:lnTo>
                    <a:pt x="1022884" y="206624"/>
                  </a:lnTo>
                  <a:lnTo>
                    <a:pt x="1070131" y="200584"/>
                  </a:lnTo>
                  <a:lnTo>
                    <a:pt x="1090780" y="199915"/>
                  </a:lnTo>
                  <a:lnTo>
                    <a:pt x="2242192" y="199915"/>
                  </a:lnTo>
                  <a:lnTo>
                    <a:pt x="2242192" y="112773"/>
                  </a:lnTo>
                  <a:lnTo>
                    <a:pt x="2233422" y="69076"/>
                  </a:lnTo>
                  <a:lnTo>
                    <a:pt x="2209487" y="33319"/>
                  </a:lnTo>
                  <a:lnTo>
                    <a:pt x="2173949" y="9095"/>
                  </a:lnTo>
                  <a:lnTo>
                    <a:pt x="2130372" y="0"/>
                  </a:lnTo>
                  <a:close/>
                </a:path>
                <a:path w="2242820" h="2037079">
                  <a:moveTo>
                    <a:pt x="1301875" y="1166599"/>
                  </a:moveTo>
                  <a:lnTo>
                    <a:pt x="1111428" y="1166599"/>
                  </a:lnTo>
                  <a:lnTo>
                    <a:pt x="1157249" y="1175769"/>
                  </a:lnTo>
                  <a:lnTo>
                    <a:pt x="1194792" y="1200815"/>
                  </a:lnTo>
                  <a:lnTo>
                    <a:pt x="1220324" y="1238038"/>
                  </a:lnTo>
                  <a:lnTo>
                    <a:pt x="1222107" y="1246366"/>
                  </a:lnTo>
                  <a:lnTo>
                    <a:pt x="1301875" y="1166599"/>
                  </a:lnTo>
                  <a:close/>
                </a:path>
                <a:path w="2242820" h="2037079">
                  <a:moveTo>
                    <a:pt x="2242192" y="199915"/>
                  </a:moveTo>
                  <a:lnTo>
                    <a:pt x="1090780" y="199915"/>
                  </a:lnTo>
                  <a:lnTo>
                    <a:pt x="1101104" y="200083"/>
                  </a:lnTo>
                  <a:lnTo>
                    <a:pt x="1157390" y="202928"/>
                  </a:lnTo>
                  <a:lnTo>
                    <a:pt x="1201715" y="210762"/>
                  </a:lnTo>
                  <a:lnTo>
                    <a:pt x="1244057" y="223748"/>
                  </a:lnTo>
                  <a:lnTo>
                    <a:pt x="1284067" y="241550"/>
                  </a:lnTo>
                  <a:lnTo>
                    <a:pt x="1321397" y="263828"/>
                  </a:lnTo>
                  <a:lnTo>
                    <a:pt x="1355702" y="290244"/>
                  </a:lnTo>
                  <a:lnTo>
                    <a:pt x="1386632" y="320462"/>
                  </a:lnTo>
                  <a:lnTo>
                    <a:pt x="1413841" y="354142"/>
                  </a:lnTo>
                  <a:lnTo>
                    <a:pt x="1436982" y="390948"/>
                  </a:lnTo>
                  <a:lnTo>
                    <a:pt x="1455706" y="430541"/>
                  </a:lnTo>
                  <a:lnTo>
                    <a:pt x="1469666" y="472582"/>
                  </a:lnTo>
                  <a:lnTo>
                    <a:pt x="1478515" y="516735"/>
                  </a:lnTo>
                  <a:lnTo>
                    <a:pt x="1481858" y="562023"/>
                  </a:lnTo>
                  <a:lnTo>
                    <a:pt x="1481905" y="571264"/>
                  </a:lnTo>
                  <a:lnTo>
                    <a:pt x="1480105" y="617821"/>
                  </a:lnTo>
                  <a:lnTo>
                    <a:pt x="1472129" y="662701"/>
                  </a:lnTo>
                  <a:lnTo>
                    <a:pt x="1458372" y="705440"/>
                  </a:lnTo>
                  <a:lnTo>
                    <a:pt x="1439232" y="745575"/>
                  </a:lnTo>
                  <a:lnTo>
                    <a:pt x="1415106" y="782642"/>
                  </a:lnTo>
                  <a:lnTo>
                    <a:pt x="1386391" y="816178"/>
                  </a:lnTo>
                  <a:lnTo>
                    <a:pt x="1353484" y="845719"/>
                  </a:lnTo>
                  <a:lnTo>
                    <a:pt x="1316782" y="870802"/>
                  </a:lnTo>
                  <a:lnTo>
                    <a:pt x="1276682" y="890963"/>
                  </a:lnTo>
                  <a:lnTo>
                    <a:pt x="1233581" y="905738"/>
                  </a:lnTo>
                  <a:lnTo>
                    <a:pt x="1187876" y="914665"/>
                  </a:lnTo>
                  <a:lnTo>
                    <a:pt x="1187876" y="1083156"/>
                  </a:lnTo>
                  <a:lnTo>
                    <a:pt x="1385319" y="1083156"/>
                  </a:lnTo>
                  <a:lnTo>
                    <a:pt x="2242192" y="226293"/>
                  </a:lnTo>
                  <a:lnTo>
                    <a:pt x="2242192" y="199915"/>
                  </a:lnTo>
                  <a:close/>
                </a:path>
                <a:path w="2242820" h="2037079">
                  <a:moveTo>
                    <a:pt x="1116819" y="353519"/>
                  </a:moveTo>
                  <a:lnTo>
                    <a:pt x="1065292" y="354584"/>
                  </a:lnTo>
                  <a:lnTo>
                    <a:pt x="1021995" y="365673"/>
                  </a:lnTo>
                  <a:lnTo>
                    <a:pt x="982844" y="385748"/>
                  </a:lnTo>
                  <a:lnTo>
                    <a:pt x="949148" y="413727"/>
                  </a:lnTo>
                  <a:lnTo>
                    <a:pt x="922211" y="448529"/>
                  </a:lnTo>
                  <a:lnTo>
                    <a:pt x="903342" y="489069"/>
                  </a:lnTo>
                  <a:lnTo>
                    <a:pt x="893847" y="534267"/>
                  </a:lnTo>
                  <a:lnTo>
                    <a:pt x="892978" y="552766"/>
                  </a:lnTo>
                  <a:lnTo>
                    <a:pt x="893196" y="562023"/>
                  </a:lnTo>
                  <a:lnTo>
                    <a:pt x="893847" y="571264"/>
                  </a:lnTo>
                  <a:lnTo>
                    <a:pt x="893847" y="584636"/>
                  </a:lnTo>
                  <a:lnTo>
                    <a:pt x="1328130" y="584636"/>
                  </a:lnTo>
                  <a:lnTo>
                    <a:pt x="1329544" y="571264"/>
                  </a:lnTo>
                  <a:lnTo>
                    <a:pt x="1324766" y="522108"/>
                  </a:lnTo>
                  <a:lnTo>
                    <a:pt x="1309477" y="476795"/>
                  </a:lnTo>
                  <a:lnTo>
                    <a:pt x="1284940" y="436630"/>
                  </a:lnTo>
                  <a:lnTo>
                    <a:pt x="1252415" y="402920"/>
                  </a:lnTo>
                  <a:lnTo>
                    <a:pt x="1213165" y="376968"/>
                  </a:lnTo>
                  <a:lnTo>
                    <a:pt x="1168452" y="360081"/>
                  </a:lnTo>
                  <a:lnTo>
                    <a:pt x="1119537" y="353563"/>
                  </a:lnTo>
                  <a:lnTo>
                    <a:pt x="1116819" y="353519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30812" y="1354356"/>
              <a:ext cx="2242820" cy="2037080"/>
            </a:xfrm>
            <a:custGeom>
              <a:avLst/>
              <a:gdLst/>
              <a:ahLst/>
              <a:cxnLst/>
              <a:rect l="l" t="t" r="r" b="b"/>
              <a:pathLst>
                <a:path w="2242820" h="2037079">
                  <a:moveTo>
                    <a:pt x="2130372" y="0"/>
                  </a:moveTo>
                  <a:lnTo>
                    <a:pt x="111196" y="0"/>
                  </a:lnTo>
                  <a:lnTo>
                    <a:pt x="67710" y="9095"/>
                  </a:lnTo>
                  <a:lnTo>
                    <a:pt x="32309" y="33319"/>
                  </a:lnTo>
                  <a:lnTo>
                    <a:pt x="8553" y="69076"/>
                  </a:lnTo>
                  <a:lnTo>
                    <a:pt x="0" y="112773"/>
                  </a:lnTo>
                  <a:lnTo>
                    <a:pt x="0" y="1490209"/>
                  </a:lnTo>
                  <a:lnTo>
                    <a:pt x="7978" y="1534101"/>
                  </a:lnTo>
                  <a:lnTo>
                    <a:pt x="31352" y="1570259"/>
                  </a:lnTo>
                  <a:lnTo>
                    <a:pt x="66570" y="1595008"/>
                  </a:lnTo>
                  <a:lnTo>
                    <a:pt x="110082" y="1604676"/>
                  </a:lnTo>
                  <a:lnTo>
                    <a:pt x="110483" y="1604676"/>
                  </a:lnTo>
                  <a:lnTo>
                    <a:pt x="110840" y="1604676"/>
                  </a:lnTo>
                  <a:lnTo>
                    <a:pt x="111196" y="1604676"/>
                  </a:lnTo>
                  <a:lnTo>
                    <a:pt x="431955" y="1604676"/>
                  </a:lnTo>
                  <a:lnTo>
                    <a:pt x="431955" y="2036508"/>
                  </a:lnTo>
                </a:path>
                <a:path w="2242820" h="2037079">
                  <a:moveTo>
                    <a:pt x="2242192" y="226293"/>
                  </a:moveTo>
                  <a:lnTo>
                    <a:pt x="2242192" y="112773"/>
                  </a:lnTo>
                  <a:lnTo>
                    <a:pt x="2233422" y="69076"/>
                  </a:lnTo>
                  <a:lnTo>
                    <a:pt x="2209487" y="33319"/>
                  </a:lnTo>
                  <a:lnTo>
                    <a:pt x="2173949" y="9095"/>
                  </a:lnTo>
                  <a:lnTo>
                    <a:pt x="2130372" y="0"/>
                  </a:lnTo>
                </a:path>
                <a:path w="2242820" h="2037079">
                  <a:moveTo>
                    <a:pt x="1072288" y="1396182"/>
                  </a:moveTo>
                  <a:lnTo>
                    <a:pt x="1065238" y="1394758"/>
                  </a:lnTo>
                  <a:lnTo>
                    <a:pt x="1027513" y="1369306"/>
                  </a:lnTo>
                  <a:lnTo>
                    <a:pt x="1002076" y="1331561"/>
                  </a:lnTo>
                  <a:lnTo>
                    <a:pt x="992748" y="1285345"/>
                  </a:lnTo>
                  <a:lnTo>
                    <a:pt x="1002076" y="1239110"/>
                  </a:lnTo>
                  <a:lnTo>
                    <a:pt x="1027513" y="1201367"/>
                  </a:lnTo>
                  <a:lnTo>
                    <a:pt x="1065238" y="1175926"/>
                  </a:lnTo>
                  <a:lnTo>
                    <a:pt x="1111428" y="1166599"/>
                  </a:lnTo>
                  <a:lnTo>
                    <a:pt x="1157249" y="1175769"/>
                  </a:lnTo>
                  <a:lnTo>
                    <a:pt x="1194792" y="1200815"/>
                  </a:lnTo>
                  <a:lnTo>
                    <a:pt x="1220324" y="1238038"/>
                  </a:lnTo>
                  <a:lnTo>
                    <a:pt x="1222107" y="1246366"/>
                  </a:lnTo>
                </a:path>
                <a:path w="2242820" h="2037079">
                  <a:moveTo>
                    <a:pt x="1187876" y="914665"/>
                  </a:moveTo>
                  <a:lnTo>
                    <a:pt x="1187876" y="1083156"/>
                  </a:lnTo>
                  <a:lnTo>
                    <a:pt x="1035516" y="1083156"/>
                  </a:lnTo>
                  <a:lnTo>
                    <a:pt x="1035516" y="768104"/>
                  </a:lnTo>
                  <a:lnTo>
                    <a:pt x="1111428" y="768104"/>
                  </a:lnTo>
                  <a:lnTo>
                    <a:pt x="1165256" y="763460"/>
                  </a:lnTo>
                  <a:lnTo>
                    <a:pt x="1212650" y="749946"/>
                  </a:lnTo>
                  <a:lnTo>
                    <a:pt x="1252936" y="728189"/>
                  </a:lnTo>
                  <a:lnTo>
                    <a:pt x="1285442" y="698815"/>
                  </a:lnTo>
                  <a:lnTo>
                    <a:pt x="1309495" y="662452"/>
                  </a:lnTo>
                  <a:lnTo>
                    <a:pt x="1324420" y="619726"/>
                  </a:lnTo>
                  <a:lnTo>
                    <a:pt x="1329544" y="571264"/>
                  </a:lnTo>
                  <a:lnTo>
                    <a:pt x="1324766" y="522108"/>
                  </a:lnTo>
                  <a:lnTo>
                    <a:pt x="1309477" y="476795"/>
                  </a:lnTo>
                  <a:lnTo>
                    <a:pt x="1284940" y="436630"/>
                  </a:lnTo>
                  <a:lnTo>
                    <a:pt x="1252415" y="402920"/>
                  </a:lnTo>
                  <a:lnTo>
                    <a:pt x="1213165" y="376968"/>
                  </a:lnTo>
                  <a:lnTo>
                    <a:pt x="1168452" y="360081"/>
                  </a:lnTo>
                  <a:lnTo>
                    <a:pt x="1119536" y="353563"/>
                  </a:lnTo>
                  <a:lnTo>
                    <a:pt x="1114146" y="353519"/>
                  </a:lnTo>
                  <a:lnTo>
                    <a:pt x="1111428" y="353563"/>
                  </a:lnTo>
                  <a:lnTo>
                    <a:pt x="1065292" y="354584"/>
                  </a:lnTo>
                  <a:lnTo>
                    <a:pt x="1021995" y="365673"/>
                  </a:lnTo>
                  <a:lnTo>
                    <a:pt x="982844" y="385748"/>
                  </a:lnTo>
                  <a:lnTo>
                    <a:pt x="949148" y="413727"/>
                  </a:lnTo>
                  <a:lnTo>
                    <a:pt x="922211" y="448529"/>
                  </a:lnTo>
                  <a:lnTo>
                    <a:pt x="903342" y="489069"/>
                  </a:lnTo>
                  <a:lnTo>
                    <a:pt x="893847" y="534267"/>
                  </a:lnTo>
                  <a:lnTo>
                    <a:pt x="892978" y="552766"/>
                  </a:lnTo>
                  <a:lnTo>
                    <a:pt x="893196" y="562023"/>
                  </a:lnTo>
                  <a:lnTo>
                    <a:pt x="893847" y="571264"/>
                  </a:lnTo>
                  <a:lnTo>
                    <a:pt x="893847" y="584636"/>
                  </a:lnTo>
                  <a:lnTo>
                    <a:pt x="741487" y="584636"/>
                  </a:lnTo>
                  <a:lnTo>
                    <a:pt x="741487" y="571264"/>
                  </a:lnTo>
                  <a:lnTo>
                    <a:pt x="741842" y="523619"/>
                  </a:lnTo>
                  <a:lnTo>
                    <a:pt x="748416" y="477548"/>
                  </a:lnTo>
                  <a:lnTo>
                    <a:pt x="760818" y="433494"/>
                  </a:lnTo>
                  <a:lnTo>
                    <a:pt x="778656" y="391897"/>
                  </a:lnTo>
                  <a:lnTo>
                    <a:pt x="801540" y="353199"/>
                  </a:lnTo>
                  <a:lnTo>
                    <a:pt x="829077" y="317842"/>
                  </a:lnTo>
                  <a:lnTo>
                    <a:pt x="860878" y="286268"/>
                  </a:lnTo>
                  <a:lnTo>
                    <a:pt x="896550" y="258917"/>
                  </a:lnTo>
                  <a:lnTo>
                    <a:pt x="935702" y="236232"/>
                  </a:lnTo>
                  <a:lnTo>
                    <a:pt x="977944" y="218653"/>
                  </a:lnTo>
                  <a:lnTo>
                    <a:pt x="1022884" y="206624"/>
                  </a:lnTo>
                  <a:lnTo>
                    <a:pt x="1070131" y="200584"/>
                  </a:lnTo>
                  <a:lnTo>
                    <a:pt x="1090780" y="199915"/>
                  </a:lnTo>
                  <a:lnTo>
                    <a:pt x="1101104" y="200083"/>
                  </a:lnTo>
                  <a:lnTo>
                    <a:pt x="1157390" y="202928"/>
                  </a:lnTo>
                  <a:lnTo>
                    <a:pt x="1201715" y="210762"/>
                  </a:lnTo>
                  <a:lnTo>
                    <a:pt x="1244057" y="223748"/>
                  </a:lnTo>
                  <a:lnTo>
                    <a:pt x="1284067" y="241550"/>
                  </a:lnTo>
                  <a:lnTo>
                    <a:pt x="1321397" y="263828"/>
                  </a:lnTo>
                  <a:lnTo>
                    <a:pt x="1355702" y="290244"/>
                  </a:lnTo>
                  <a:lnTo>
                    <a:pt x="1386632" y="320462"/>
                  </a:lnTo>
                  <a:lnTo>
                    <a:pt x="1413841" y="354142"/>
                  </a:lnTo>
                  <a:lnTo>
                    <a:pt x="1436982" y="390948"/>
                  </a:lnTo>
                  <a:lnTo>
                    <a:pt x="1455706" y="430541"/>
                  </a:lnTo>
                  <a:lnTo>
                    <a:pt x="1469666" y="472582"/>
                  </a:lnTo>
                  <a:lnTo>
                    <a:pt x="1478515" y="516735"/>
                  </a:lnTo>
                  <a:lnTo>
                    <a:pt x="1481905" y="562661"/>
                  </a:lnTo>
                  <a:lnTo>
                    <a:pt x="1481949" y="568411"/>
                  </a:lnTo>
                  <a:lnTo>
                    <a:pt x="1481905" y="571264"/>
                  </a:lnTo>
                  <a:lnTo>
                    <a:pt x="1480105" y="617821"/>
                  </a:lnTo>
                  <a:lnTo>
                    <a:pt x="1472129" y="662701"/>
                  </a:lnTo>
                  <a:lnTo>
                    <a:pt x="1458372" y="705440"/>
                  </a:lnTo>
                  <a:lnTo>
                    <a:pt x="1439232" y="745575"/>
                  </a:lnTo>
                  <a:lnTo>
                    <a:pt x="1415106" y="782642"/>
                  </a:lnTo>
                  <a:lnTo>
                    <a:pt x="1386391" y="816178"/>
                  </a:lnTo>
                  <a:lnTo>
                    <a:pt x="1353484" y="845719"/>
                  </a:lnTo>
                  <a:lnTo>
                    <a:pt x="1316782" y="870802"/>
                  </a:lnTo>
                  <a:lnTo>
                    <a:pt x="1276682" y="890963"/>
                  </a:lnTo>
                  <a:lnTo>
                    <a:pt x="1233581" y="905738"/>
                  </a:lnTo>
                  <a:lnTo>
                    <a:pt x="1187876" y="914665"/>
                  </a:lnTo>
                </a:path>
              </a:pathLst>
            </a:custGeom>
            <a:ln w="62386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7542" y="197865"/>
            <a:ext cx="2768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Bahnschrift"/>
                <a:cs typeface="Bahnschrift"/>
              </a:rPr>
              <a:t>Taken</a:t>
            </a:r>
            <a:r>
              <a:rPr sz="3000" spc="204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Approach</a:t>
            </a:r>
            <a:endParaRPr sz="3000">
              <a:latin typeface="Bahnschrift"/>
              <a:cs typeface="Bahnschrif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1410089"/>
            <a:ext cx="7701280" cy="44316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750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In</a:t>
            </a:r>
            <a:r>
              <a:rPr sz="1300" spc="-6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Application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dataset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there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are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307511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rows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and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122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columns.</a:t>
            </a:r>
            <a:endParaRPr sz="1300">
              <a:latin typeface="Arial MT"/>
              <a:cs typeface="Arial MT"/>
            </a:endParaRPr>
          </a:p>
          <a:p>
            <a:pPr marL="184785" marR="160655" indent="-172720" algn="just">
              <a:lnSpc>
                <a:spcPts val="1400"/>
              </a:lnSpc>
              <a:spcBef>
                <a:spcPts val="830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Columns that </a:t>
            </a:r>
            <a:r>
              <a:rPr sz="1300" spc="-10" dirty="0">
                <a:latin typeface="Arial MT"/>
                <a:cs typeface="Arial MT"/>
              </a:rPr>
              <a:t>have </a:t>
            </a:r>
            <a:r>
              <a:rPr sz="1300" spc="-5" dirty="0">
                <a:latin typeface="Arial MT"/>
                <a:cs typeface="Arial MT"/>
              </a:rPr>
              <a:t>missing values more than 50% are dopped as columns </a:t>
            </a:r>
            <a:r>
              <a:rPr sz="1300" spc="-10" dirty="0">
                <a:latin typeface="Arial MT"/>
                <a:cs typeface="Arial MT"/>
              </a:rPr>
              <a:t>with </a:t>
            </a:r>
            <a:r>
              <a:rPr sz="1300" spc="-5" dirty="0">
                <a:latin typeface="Arial MT"/>
                <a:cs typeface="Arial MT"/>
              </a:rPr>
              <a:t>that much of missing 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values may not be helpful to depict the insight. After dropping such columns, there are 81 columns in 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the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dataset.</a:t>
            </a:r>
            <a:endParaRPr sz="1300">
              <a:latin typeface="Arial MT"/>
              <a:cs typeface="Arial MT"/>
            </a:endParaRPr>
          </a:p>
          <a:p>
            <a:pPr marL="184785" marR="174625" indent="-172720">
              <a:lnSpc>
                <a:spcPts val="1400"/>
              </a:lnSpc>
              <a:spcBef>
                <a:spcPts val="820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It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can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seen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for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days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columns;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values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are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negative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so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5" dirty="0">
                <a:latin typeface="Arial MT"/>
                <a:cs typeface="Arial MT"/>
              </a:rPr>
              <a:t>we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those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were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converted</a:t>
            </a:r>
            <a:r>
              <a:rPr sz="1300" spc="6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into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positive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values.</a:t>
            </a:r>
            <a:endParaRPr sz="1300">
              <a:latin typeface="Arial MT"/>
              <a:cs typeface="Arial MT"/>
            </a:endParaRPr>
          </a:p>
          <a:p>
            <a:pPr marL="184785" indent="-172720">
              <a:lnSpc>
                <a:spcPts val="1480"/>
              </a:lnSpc>
              <a:spcBef>
                <a:spcPts val="620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Few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denotes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Number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enquires,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count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family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members,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no.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social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media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connects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and</a:t>
            </a:r>
            <a:endParaRPr sz="1300">
              <a:latin typeface="Arial MT"/>
              <a:cs typeface="Arial MT"/>
            </a:endParaRPr>
          </a:p>
          <a:p>
            <a:pPr marL="184785">
              <a:lnSpc>
                <a:spcPts val="1480"/>
              </a:lnSpc>
            </a:pPr>
            <a:r>
              <a:rPr sz="1300" spc="-5" dirty="0">
                <a:latin typeface="Arial MT"/>
                <a:cs typeface="Arial MT"/>
              </a:rPr>
              <a:t>no.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days.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So,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these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can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not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float,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so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these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were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also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converted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integers.</a:t>
            </a:r>
            <a:endParaRPr sz="1300">
              <a:latin typeface="Arial MT"/>
              <a:cs typeface="Arial MT"/>
            </a:endParaRPr>
          </a:p>
          <a:p>
            <a:pPr marL="184785" marR="144780" indent="-172720">
              <a:lnSpc>
                <a:spcPts val="1400"/>
              </a:lnSpc>
              <a:spcBef>
                <a:spcPts val="830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There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are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few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having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integer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types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but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contains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categorical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data.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Converting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these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into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data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type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object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is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required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to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perform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univariate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and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bivariate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analysis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15" dirty="0">
                <a:latin typeface="Arial MT"/>
                <a:cs typeface="Arial MT"/>
              </a:rPr>
              <a:t>properly.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We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checked 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having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less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unique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values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(most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those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are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Flag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columns)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and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converted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those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columns 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into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object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type.</a:t>
            </a:r>
            <a:endParaRPr sz="1300">
              <a:latin typeface="Arial MT"/>
              <a:cs typeface="Arial MT"/>
            </a:endParaRPr>
          </a:p>
          <a:p>
            <a:pPr marL="184785" marR="152400" indent="-172720">
              <a:lnSpc>
                <a:spcPts val="1400"/>
              </a:lnSpc>
              <a:spcBef>
                <a:spcPts val="819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Columns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having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less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than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14%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Missing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Values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were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analyzed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and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suitable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imputation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methods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have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been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mentioned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next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slide.</a:t>
            </a:r>
            <a:endParaRPr sz="1300">
              <a:latin typeface="Arial MT"/>
              <a:cs typeface="Arial MT"/>
            </a:endParaRPr>
          </a:p>
          <a:p>
            <a:pPr marL="184785" indent="-172720">
              <a:lnSpc>
                <a:spcPts val="1485"/>
              </a:lnSpc>
              <a:spcBef>
                <a:spcPts val="620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Application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data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has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been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divided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into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two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datasets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one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where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5" dirty="0">
                <a:latin typeface="Arial MT"/>
                <a:cs typeface="Arial MT"/>
              </a:rPr>
              <a:t>TARGET=1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(client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with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payment</a:t>
            </a:r>
            <a:endParaRPr sz="1300">
              <a:latin typeface="Arial MT"/>
              <a:cs typeface="Arial MT"/>
            </a:endParaRPr>
          </a:p>
          <a:p>
            <a:pPr marL="184785">
              <a:lnSpc>
                <a:spcPts val="1485"/>
              </a:lnSpc>
            </a:pPr>
            <a:r>
              <a:rPr sz="1300" spc="-5" dirty="0">
                <a:latin typeface="Arial MT"/>
                <a:cs typeface="Arial MT"/>
              </a:rPr>
              <a:t>difficulties)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and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one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where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5" dirty="0">
                <a:latin typeface="Arial MT"/>
                <a:cs typeface="Arial MT"/>
              </a:rPr>
              <a:t>TARGET=0</a:t>
            </a:r>
            <a:r>
              <a:rPr sz="1300" spc="-5" dirty="0">
                <a:latin typeface="Arial MT"/>
                <a:cs typeface="Arial MT"/>
              </a:rPr>
              <a:t> (Other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clients)</a:t>
            </a:r>
            <a:endParaRPr sz="1300">
              <a:latin typeface="Arial MT"/>
              <a:cs typeface="Arial MT"/>
            </a:endParaRPr>
          </a:p>
          <a:p>
            <a:pPr marL="184785" indent="-172720">
              <a:lnSpc>
                <a:spcPct val="100000"/>
              </a:lnSpc>
              <a:spcBef>
                <a:spcPts val="645"/>
              </a:spcBef>
              <a:buChar char="•"/>
              <a:tabLst>
                <a:tab pos="185420" algn="l"/>
              </a:tabLst>
            </a:pPr>
            <a:r>
              <a:rPr sz="1300" dirty="0">
                <a:latin typeface="Arial MT"/>
                <a:cs typeface="Arial MT"/>
              </a:rPr>
              <a:t>Then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outlier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detection,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univariate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analysis,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bivariate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analysis,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correlation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analysis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are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performed</a:t>
            </a:r>
            <a:endParaRPr sz="1300">
              <a:latin typeface="Arial MT"/>
              <a:cs typeface="Arial MT"/>
            </a:endParaRPr>
          </a:p>
          <a:p>
            <a:pPr marL="184785" indent="-172720">
              <a:lnSpc>
                <a:spcPct val="100000"/>
              </a:lnSpc>
              <a:spcBef>
                <a:spcPts val="650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For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Previous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Application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data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same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analysis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has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been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performed.</a:t>
            </a:r>
            <a:endParaRPr sz="1300">
              <a:latin typeface="Arial MT"/>
              <a:cs typeface="Arial MT"/>
            </a:endParaRPr>
          </a:p>
          <a:p>
            <a:pPr marL="184785" indent="-172720">
              <a:lnSpc>
                <a:spcPct val="100000"/>
              </a:lnSpc>
              <a:spcBef>
                <a:spcPts val="635"/>
              </a:spcBef>
              <a:buChar char="•"/>
              <a:tabLst>
                <a:tab pos="185420" algn="l"/>
              </a:tabLst>
            </a:pPr>
            <a:r>
              <a:rPr sz="1300" spc="-5" dirty="0">
                <a:latin typeface="Arial MT"/>
                <a:cs typeface="Arial MT"/>
              </a:rPr>
              <a:t>At the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end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Conclusion,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Important</a:t>
            </a:r>
            <a:r>
              <a:rPr sz="1300" spc="3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insights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are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provided.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004" y="2983179"/>
            <a:ext cx="278384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</a:t>
            </a:r>
            <a:r>
              <a:rPr spc="-65" dirty="0"/>
              <a:t> </a:t>
            </a:r>
            <a:r>
              <a:rPr spc="-30" dirty="0"/>
              <a:t>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241172"/>
            <a:ext cx="6219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Suggesting</a:t>
            </a:r>
            <a:r>
              <a:rPr sz="3000" spc="21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Missing</a:t>
            </a:r>
            <a:r>
              <a:rPr sz="3000" spc="22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Value</a:t>
            </a:r>
            <a:r>
              <a:rPr sz="3000" spc="26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Treatment</a:t>
            </a:r>
            <a:endParaRPr sz="30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191" y="1269491"/>
            <a:ext cx="2612390" cy="1567180"/>
          </a:xfrm>
          <a:prstGeom prst="rect">
            <a:avLst/>
          </a:prstGeom>
          <a:solidFill>
            <a:srgbClr val="2E549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108585" marR="101600" indent="1270" algn="ctr">
              <a:lnSpc>
                <a:spcPct val="9150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AMT_ANNUITY has continuous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value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it's distribution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symmetrical,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Median imputation to treat missing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column.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5932" y="1269491"/>
            <a:ext cx="2612390" cy="1567180"/>
          </a:xfrm>
          <a:prstGeom prst="rect">
            <a:avLst/>
          </a:prstGeom>
          <a:solidFill>
            <a:srgbClr val="2E549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67945" marR="55880" algn="ctr">
              <a:lnSpc>
                <a:spcPct val="9150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AMT_GOODS_PRICE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has continuous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value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 it's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distribution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is not symmetrical, we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Median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imputation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treat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missing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column.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8671" y="1269491"/>
            <a:ext cx="2612390" cy="1567180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74930" marR="67310" algn="ctr">
              <a:lnSpc>
                <a:spcPts val="121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NAME_TYPE_SUITE</a:t>
            </a:r>
            <a:r>
              <a:rPr sz="1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categorical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column;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 can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mode to impute the missing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values.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191" y="3096767"/>
            <a:ext cx="2612390" cy="1568450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ts val="1265"/>
              </a:lnSpc>
            </a:pP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CNT_FAM_MEMBERS</a:t>
            </a:r>
            <a:r>
              <a:rPr sz="1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100">
              <a:latin typeface="Calibri"/>
              <a:cs typeface="Calibri"/>
            </a:endParaRPr>
          </a:p>
          <a:p>
            <a:pPr marL="55244" marR="48895" indent="635" algn="ctr">
              <a:lnSpc>
                <a:spcPct val="91500"/>
              </a:lnSpc>
              <a:spcBef>
                <a:spcPts val="60"/>
              </a:spcBef>
            </a:pP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NAME_FAMILY_STATUS: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Both of these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Columns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have 2 missing values, In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NAME_FAMILY_STATUS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column the missing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value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is mentioned as 'Unknow' and in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CNT_FAM_MEMBERS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NA </a:t>
            </a:r>
            <a:r>
              <a:rPr sz="1100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values. We can replace these with mode of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those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columns.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5932" y="3096767"/>
            <a:ext cx="2612390" cy="1568450"/>
          </a:xfrm>
          <a:prstGeom prst="rect">
            <a:avLst/>
          </a:prstGeom>
          <a:solidFill>
            <a:srgbClr val="2E549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>
              <a:latin typeface="Times New Roman"/>
              <a:cs typeface="Times New Roman"/>
            </a:endParaRPr>
          </a:p>
          <a:p>
            <a:pPr marL="57150" marR="45085" indent="-635" algn="ctr">
              <a:lnSpc>
                <a:spcPts val="121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EXT_SOURCE_2 : it's a continuous variable,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 can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replace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missing values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using Median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imputation.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9132" y="3040379"/>
            <a:ext cx="2611120" cy="1568450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Times New Roman"/>
              <a:cs typeface="Times New Roman"/>
            </a:endParaRPr>
          </a:p>
          <a:p>
            <a:pPr marL="422909" marR="94615" indent="-320040">
              <a:lnSpc>
                <a:spcPts val="1210"/>
              </a:lnSpc>
            </a:pP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*_CNT_SOCIAL_CIRCLE: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Mode imputation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used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columns.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8800" y="4925567"/>
            <a:ext cx="2612390" cy="1567180"/>
          </a:xfrm>
          <a:prstGeom prst="rect">
            <a:avLst/>
          </a:prstGeom>
          <a:solidFill>
            <a:srgbClr val="2E549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>
              <a:latin typeface="Times New Roman"/>
              <a:cs typeface="Times New Roman"/>
            </a:endParaRPr>
          </a:p>
          <a:p>
            <a:pPr marL="160020" marR="151130" algn="ctr">
              <a:lnSpc>
                <a:spcPts val="1210"/>
              </a:lnSpc>
            </a:pP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DAYS_LAST_PHONE_CHANGE: There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is a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single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missing value, we can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median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imputation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here.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3064" y="4925567"/>
            <a:ext cx="2612390" cy="1567180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50800" marR="44450" indent="635" algn="ctr">
              <a:lnSpc>
                <a:spcPct val="91500"/>
              </a:lnSpc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AMT_REQ_CREDIT_* columns denote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enquiries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Bureau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about </a:t>
            </a:r>
            <a:r>
              <a:rPr sz="1100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 client # Months/Days/Weeks before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application.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mode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imputation.</a:t>
            </a:r>
            <a:endParaRPr sz="1100">
              <a:latin typeface="Calibri"/>
              <a:cs typeface="Calibri"/>
            </a:endParaRPr>
          </a:p>
          <a:p>
            <a:pPr marL="53975" marR="45720" algn="ctr">
              <a:lnSpc>
                <a:spcPct val="91600"/>
              </a:lnSpc>
              <a:spcBef>
                <a:spcPts val="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That will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generalize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it, so we are basically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replacing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100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enquires generally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bank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does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most of 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customers.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114680"/>
            <a:ext cx="65176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Checking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Class</a:t>
            </a:r>
            <a:r>
              <a:rPr sz="3000" spc="24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Imbalance</a:t>
            </a:r>
            <a:r>
              <a:rPr sz="3000" spc="28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for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TARGET</a:t>
            </a:r>
            <a:endParaRPr sz="30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5205" y="1995007"/>
            <a:ext cx="5659302" cy="35572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267" y="2863088"/>
            <a:ext cx="20961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huge class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imbalance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Almost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91.9%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Target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only </a:t>
            </a:r>
            <a:r>
              <a:rPr sz="1800" dirty="0">
                <a:latin typeface="Calibri"/>
                <a:cs typeface="Calibri"/>
              </a:rPr>
              <a:t>8.1% </a:t>
            </a:r>
            <a:r>
              <a:rPr sz="1800" spc="-15" dirty="0">
                <a:latin typeface="Calibri"/>
                <a:cs typeface="Calibri"/>
              </a:rPr>
              <a:t>data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Target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1458" y="5820562"/>
            <a:ext cx="215900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ourier New"/>
                <a:cs typeface="Courier New"/>
              </a:rPr>
              <a:t>0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91.927118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1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8.072882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Name: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TARGET,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dtype: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float64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0"/>
            <a:ext cx="3474720" cy="6867525"/>
            <a:chOff x="-4762" y="0"/>
            <a:chExt cx="347472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2304" y="0"/>
              <a:ext cx="1037094" cy="68579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3342640" cy="6858000"/>
            </a:xfrm>
            <a:custGeom>
              <a:avLst/>
              <a:gdLst/>
              <a:ahLst/>
              <a:cxnLst/>
              <a:rect l="l" t="t" r="r" b="b"/>
              <a:pathLst>
                <a:path w="3342640" h="6858000">
                  <a:moveTo>
                    <a:pt x="243230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32304" y="6857999"/>
                  </a:lnTo>
                  <a:lnTo>
                    <a:pt x="2479548" y="6788730"/>
                  </a:lnTo>
                  <a:lnTo>
                    <a:pt x="2502261" y="6751679"/>
                  </a:lnTo>
                  <a:lnTo>
                    <a:pt x="2524723" y="6714231"/>
                  </a:lnTo>
                  <a:lnTo>
                    <a:pt x="2546933" y="6676388"/>
                  </a:lnTo>
                  <a:lnTo>
                    <a:pt x="2568886" y="6638154"/>
                  </a:lnTo>
                  <a:lnTo>
                    <a:pt x="2590582" y="6599533"/>
                  </a:lnTo>
                  <a:lnTo>
                    <a:pt x="2612019" y="6560527"/>
                  </a:lnTo>
                  <a:lnTo>
                    <a:pt x="2633193" y="6521142"/>
                  </a:lnTo>
                  <a:lnTo>
                    <a:pt x="2654102" y="6481380"/>
                  </a:lnTo>
                  <a:lnTo>
                    <a:pt x="2674746" y="6441245"/>
                  </a:lnTo>
                  <a:lnTo>
                    <a:pt x="2695120" y="6400740"/>
                  </a:lnTo>
                  <a:lnTo>
                    <a:pt x="2715224" y="6359869"/>
                  </a:lnTo>
                  <a:lnTo>
                    <a:pt x="2735054" y="6318636"/>
                  </a:lnTo>
                  <a:lnTo>
                    <a:pt x="2754609" y="6277044"/>
                  </a:lnTo>
                  <a:lnTo>
                    <a:pt x="2773887" y="6235096"/>
                  </a:lnTo>
                  <a:lnTo>
                    <a:pt x="2792884" y="6192797"/>
                  </a:lnTo>
                  <a:lnTo>
                    <a:pt x="2811600" y="6150150"/>
                  </a:lnTo>
                  <a:lnTo>
                    <a:pt x="2830032" y="6107158"/>
                  </a:lnTo>
                  <a:lnTo>
                    <a:pt x="2848177" y="6063825"/>
                  </a:lnTo>
                  <a:lnTo>
                    <a:pt x="2866033" y="6020154"/>
                  </a:lnTo>
                  <a:lnTo>
                    <a:pt x="2883599" y="5976150"/>
                  </a:lnTo>
                  <a:lnTo>
                    <a:pt x="2900871" y="5931815"/>
                  </a:lnTo>
                  <a:lnTo>
                    <a:pt x="2917848" y="5887154"/>
                  </a:lnTo>
                  <a:lnTo>
                    <a:pt x="2934528" y="5842169"/>
                  </a:lnTo>
                  <a:lnTo>
                    <a:pt x="2950908" y="5796864"/>
                  </a:lnTo>
                  <a:lnTo>
                    <a:pt x="2966986" y="5751244"/>
                  </a:lnTo>
                  <a:lnTo>
                    <a:pt x="2982760" y="5705311"/>
                  </a:lnTo>
                  <a:lnTo>
                    <a:pt x="2998227" y="5659069"/>
                  </a:lnTo>
                  <a:lnTo>
                    <a:pt x="3013386" y="5612522"/>
                  </a:lnTo>
                  <a:lnTo>
                    <a:pt x="3028235" y="5565673"/>
                  </a:lnTo>
                  <a:lnTo>
                    <a:pt x="3042770" y="5518525"/>
                  </a:lnTo>
                  <a:lnTo>
                    <a:pt x="3056990" y="5471083"/>
                  </a:lnTo>
                  <a:lnTo>
                    <a:pt x="3070893" y="5423350"/>
                  </a:lnTo>
                  <a:lnTo>
                    <a:pt x="3084476" y="5375330"/>
                  </a:lnTo>
                  <a:lnTo>
                    <a:pt x="3097737" y="5327025"/>
                  </a:lnTo>
                  <a:lnTo>
                    <a:pt x="3110674" y="5278440"/>
                  </a:lnTo>
                  <a:lnTo>
                    <a:pt x="3123285" y="5229578"/>
                  </a:lnTo>
                  <a:lnTo>
                    <a:pt x="3135567" y="5180442"/>
                  </a:lnTo>
                  <a:lnTo>
                    <a:pt x="3147519" y="5131037"/>
                  </a:lnTo>
                  <a:lnTo>
                    <a:pt x="3159138" y="5081366"/>
                  </a:lnTo>
                  <a:lnTo>
                    <a:pt x="3170422" y="5031433"/>
                  </a:lnTo>
                  <a:lnTo>
                    <a:pt x="3181368" y="4981240"/>
                  </a:lnTo>
                  <a:lnTo>
                    <a:pt x="3191975" y="4930792"/>
                  </a:lnTo>
                  <a:lnTo>
                    <a:pt x="3202240" y="4880091"/>
                  </a:lnTo>
                  <a:lnTo>
                    <a:pt x="3212161" y="4829143"/>
                  </a:lnTo>
                  <a:lnTo>
                    <a:pt x="3221736" y="4777950"/>
                  </a:lnTo>
                  <a:lnTo>
                    <a:pt x="3230963" y="4726515"/>
                  </a:lnTo>
                  <a:lnTo>
                    <a:pt x="3239839" y="4674843"/>
                  </a:lnTo>
                  <a:lnTo>
                    <a:pt x="3248362" y="4622937"/>
                  </a:lnTo>
                  <a:lnTo>
                    <a:pt x="3256530" y="4570800"/>
                  </a:lnTo>
                  <a:lnTo>
                    <a:pt x="3264341" y="4518437"/>
                  </a:lnTo>
                  <a:lnTo>
                    <a:pt x="3271792" y="4465850"/>
                  </a:lnTo>
                  <a:lnTo>
                    <a:pt x="3278882" y="4413043"/>
                  </a:lnTo>
                  <a:lnTo>
                    <a:pt x="3285608" y="4360020"/>
                  </a:lnTo>
                  <a:lnTo>
                    <a:pt x="3291968" y="4306784"/>
                  </a:lnTo>
                  <a:lnTo>
                    <a:pt x="3297959" y="4253340"/>
                  </a:lnTo>
                  <a:lnTo>
                    <a:pt x="3303580" y="4199689"/>
                  </a:lnTo>
                  <a:lnTo>
                    <a:pt x="3308829" y="4145837"/>
                  </a:lnTo>
                  <a:lnTo>
                    <a:pt x="3313702" y="4091786"/>
                  </a:lnTo>
                  <a:lnTo>
                    <a:pt x="3318198" y="4037541"/>
                  </a:lnTo>
                  <a:lnTo>
                    <a:pt x="3322315" y="3983104"/>
                  </a:lnTo>
                  <a:lnTo>
                    <a:pt x="3326050" y="3928479"/>
                  </a:lnTo>
                  <a:lnTo>
                    <a:pt x="3329402" y="3873671"/>
                  </a:lnTo>
                  <a:lnTo>
                    <a:pt x="3332367" y="3818681"/>
                  </a:lnTo>
                  <a:lnTo>
                    <a:pt x="3334944" y="3763515"/>
                  </a:lnTo>
                  <a:lnTo>
                    <a:pt x="3337131" y="3708175"/>
                  </a:lnTo>
                  <a:lnTo>
                    <a:pt x="3338925" y="3652666"/>
                  </a:lnTo>
                  <a:lnTo>
                    <a:pt x="3340325" y="3596990"/>
                  </a:lnTo>
                  <a:lnTo>
                    <a:pt x="3341327" y="3541151"/>
                  </a:lnTo>
                  <a:lnTo>
                    <a:pt x="3341930" y="3485153"/>
                  </a:lnTo>
                  <a:lnTo>
                    <a:pt x="3342132" y="3429000"/>
                  </a:lnTo>
                  <a:lnTo>
                    <a:pt x="3341930" y="3372846"/>
                  </a:lnTo>
                  <a:lnTo>
                    <a:pt x="3341327" y="3316848"/>
                  </a:lnTo>
                  <a:lnTo>
                    <a:pt x="3340325" y="3261009"/>
                  </a:lnTo>
                  <a:lnTo>
                    <a:pt x="3338925" y="3205334"/>
                  </a:lnTo>
                  <a:lnTo>
                    <a:pt x="3337131" y="3149824"/>
                  </a:lnTo>
                  <a:lnTo>
                    <a:pt x="3334944" y="3094484"/>
                  </a:lnTo>
                  <a:lnTo>
                    <a:pt x="3332367" y="3039318"/>
                  </a:lnTo>
                  <a:lnTo>
                    <a:pt x="3329402" y="2984329"/>
                  </a:lnTo>
                  <a:lnTo>
                    <a:pt x="3326050" y="2929521"/>
                  </a:lnTo>
                  <a:lnTo>
                    <a:pt x="3322315" y="2874896"/>
                  </a:lnTo>
                  <a:lnTo>
                    <a:pt x="3318198" y="2820460"/>
                  </a:lnTo>
                  <a:lnTo>
                    <a:pt x="3313702" y="2766214"/>
                  </a:lnTo>
                  <a:lnTo>
                    <a:pt x="3308829" y="2712164"/>
                  </a:lnTo>
                  <a:lnTo>
                    <a:pt x="3303580" y="2658312"/>
                  </a:lnTo>
                  <a:lnTo>
                    <a:pt x="3297959" y="2604662"/>
                  </a:lnTo>
                  <a:lnTo>
                    <a:pt x="3291968" y="2551217"/>
                  </a:lnTo>
                  <a:lnTo>
                    <a:pt x="3285608" y="2497982"/>
                  </a:lnTo>
                  <a:lnTo>
                    <a:pt x="3278882" y="2444959"/>
                  </a:lnTo>
                  <a:lnTo>
                    <a:pt x="3271792" y="2392152"/>
                  </a:lnTo>
                  <a:lnTo>
                    <a:pt x="3264341" y="2339565"/>
                  </a:lnTo>
                  <a:lnTo>
                    <a:pt x="3256530" y="2287202"/>
                  </a:lnTo>
                  <a:lnTo>
                    <a:pt x="3248362" y="2235065"/>
                  </a:lnTo>
                  <a:lnTo>
                    <a:pt x="3239839" y="2183159"/>
                  </a:lnTo>
                  <a:lnTo>
                    <a:pt x="3230963" y="2131487"/>
                  </a:lnTo>
                  <a:lnTo>
                    <a:pt x="3221736" y="2080053"/>
                  </a:lnTo>
                  <a:lnTo>
                    <a:pt x="3212161" y="2028860"/>
                  </a:lnTo>
                  <a:lnTo>
                    <a:pt x="3202240" y="1977911"/>
                  </a:lnTo>
                  <a:lnTo>
                    <a:pt x="3191975" y="1927211"/>
                  </a:lnTo>
                  <a:lnTo>
                    <a:pt x="3181368" y="1876763"/>
                  </a:lnTo>
                  <a:lnTo>
                    <a:pt x="3170422" y="1826570"/>
                  </a:lnTo>
                  <a:lnTo>
                    <a:pt x="3159138" y="1776636"/>
                  </a:lnTo>
                  <a:lnTo>
                    <a:pt x="3147519" y="1726965"/>
                  </a:lnTo>
                  <a:lnTo>
                    <a:pt x="3135567" y="1677560"/>
                  </a:lnTo>
                  <a:lnTo>
                    <a:pt x="3123285" y="1628424"/>
                  </a:lnTo>
                  <a:lnTo>
                    <a:pt x="3110674" y="1579562"/>
                  </a:lnTo>
                  <a:lnTo>
                    <a:pt x="3097737" y="1530977"/>
                  </a:lnTo>
                  <a:lnTo>
                    <a:pt x="3084476" y="1482671"/>
                  </a:lnTo>
                  <a:lnTo>
                    <a:pt x="3070893" y="1434650"/>
                  </a:lnTo>
                  <a:lnTo>
                    <a:pt x="3056990" y="1386917"/>
                  </a:lnTo>
                  <a:lnTo>
                    <a:pt x="3042770" y="1339474"/>
                  </a:lnTo>
                  <a:lnTo>
                    <a:pt x="3028235" y="1292326"/>
                  </a:lnTo>
                  <a:lnTo>
                    <a:pt x="3013386" y="1245476"/>
                  </a:lnTo>
                  <a:lnTo>
                    <a:pt x="2998227" y="1198928"/>
                  </a:lnTo>
                  <a:lnTo>
                    <a:pt x="2982760" y="1152686"/>
                  </a:lnTo>
                  <a:lnTo>
                    <a:pt x="2966986" y="1106752"/>
                  </a:lnTo>
                  <a:lnTo>
                    <a:pt x="2950908" y="1061130"/>
                  </a:lnTo>
                  <a:lnTo>
                    <a:pt x="2934528" y="1015825"/>
                  </a:lnTo>
                  <a:lnTo>
                    <a:pt x="2917848" y="970839"/>
                  </a:lnTo>
                  <a:lnTo>
                    <a:pt x="2900871" y="926176"/>
                  </a:lnTo>
                  <a:lnTo>
                    <a:pt x="2883599" y="881840"/>
                  </a:lnTo>
                  <a:lnTo>
                    <a:pt x="2866033" y="837835"/>
                  </a:lnTo>
                  <a:lnTo>
                    <a:pt x="2848177" y="794163"/>
                  </a:lnTo>
                  <a:lnTo>
                    <a:pt x="2830032" y="750828"/>
                  </a:lnTo>
                  <a:lnTo>
                    <a:pt x="2811600" y="707835"/>
                  </a:lnTo>
                  <a:lnTo>
                    <a:pt x="2792884" y="665186"/>
                  </a:lnTo>
                  <a:lnTo>
                    <a:pt x="2773887" y="622885"/>
                  </a:lnTo>
                  <a:lnTo>
                    <a:pt x="2754609" y="580935"/>
                  </a:lnTo>
                  <a:lnTo>
                    <a:pt x="2735054" y="539341"/>
                  </a:lnTo>
                  <a:lnTo>
                    <a:pt x="2715224" y="498106"/>
                  </a:lnTo>
                  <a:lnTo>
                    <a:pt x="2695120" y="457233"/>
                  </a:lnTo>
                  <a:lnTo>
                    <a:pt x="2674746" y="416726"/>
                  </a:lnTo>
                  <a:lnTo>
                    <a:pt x="2654102" y="376588"/>
                  </a:lnTo>
                  <a:lnTo>
                    <a:pt x="2633193" y="336823"/>
                  </a:lnTo>
                  <a:lnTo>
                    <a:pt x="2612019" y="297435"/>
                  </a:lnTo>
                  <a:lnTo>
                    <a:pt x="2590582" y="258427"/>
                  </a:lnTo>
                  <a:lnTo>
                    <a:pt x="2568886" y="219803"/>
                  </a:lnTo>
                  <a:lnTo>
                    <a:pt x="2546933" y="181566"/>
                  </a:lnTo>
                  <a:lnTo>
                    <a:pt x="2524723" y="143720"/>
                  </a:lnTo>
                  <a:lnTo>
                    <a:pt x="2502261" y="106268"/>
                  </a:lnTo>
                  <a:lnTo>
                    <a:pt x="2479548" y="69215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342640" cy="6858000"/>
            </a:xfrm>
            <a:custGeom>
              <a:avLst/>
              <a:gdLst/>
              <a:ahLst/>
              <a:cxnLst/>
              <a:rect l="l" t="t" r="r" b="b"/>
              <a:pathLst>
                <a:path w="3342640" h="6858000">
                  <a:moveTo>
                    <a:pt x="0" y="0"/>
                  </a:moveTo>
                  <a:lnTo>
                    <a:pt x="2432304" y="0"/>
                  </a:lnTo>
                  <a:lnTo>
                    <a:pt x="2479548" y="69215"/>
                  </a:lnTo>
                  <a:lnTo>
                    <a:pt x="2502261" y="106268"/>
                  </a:lnTo>
                  <a:lnTo>
                    <a:pt x="2524723" y="143720"/>
                  </a:lnTo>
                  <a:lnTo>
                    <a:pt x="2546933" y="181566"/>
                  </a:lnTo>
                  <a:lnTo>
                    <a:pt x="2568886" y="219803"/>
                  </a:lnTo>
                  <a:lnTo>
                    <a:pt x="2590582" y="258427"/>
                  </a:lnTo>
                  <a:lnTo>
                    <a:pt x="2612019" y="297435"/>
                  </a:lnTo>
                  <a:lnTo>
                    <a:pt x="2633193" y="336823"/>
                  </a:lnTo>
                  <a:lnTo>
                    <a:pt x="2654102" y="376588"/>
                  </a:lnTo>
                  <a:lnTo>
                    <a:pt x="2674746" y="416726"/>
                  </a:lnTo>
                  <a:lnTo>
                    <a:pt x="2695120" y="457233"/>
                  </a:lnTo>
                  <a:lnTo>
                    <a:pt x="2715224" y="498106"/>
                  </a:lnTo>
                  <a:lnTo>
                    <a:pt x="2735054" y="539341"/>
                  </a:lnTo>
                  <a:lnTo>
                    <a:pt x="2754609" y="580935"/>
                  </a:lnTo>
                  <a:lnTo>
                    <a:pt x="2773887" y="622885"/>
                  </a:lnTo>
                  <a:lnTo>
                    <a:pt x="2792884" y="665186"/>
                  </a:lnTo>
                  <a:lnTo>
                    <a:pt x="2811600" y="707835"/>
                  </a:lnTo>
                  <a:lnTo>
                    <a:pt x="2830032" y="750828"/>
                  </a:lnTo>
                  <a:lnTo>
                    <a:pt x="2848177" y="794163"/>
                  </a:lnTo>
                  <a:lnTo>
                    <a:pt x="2866033" y="837835"/>
                  </a:lnTo>
                  <a:lnTo>
                    <a:pt x="2883599" y="881840"/>
                  </a:lnTo>
                  <a:lnTo>
                    <a:pt x="2900871" y="926176"/>
                  </a:lnTo>
                  <a:lnTo>
                    <a:pt x="2917848" y="970839"/>
                  </a:lnTo>
                  <a:lnTo>
                    <a:pt x="2934528" y="1015825"/>
                  </a:lnTo>
                  <a:lnTo>
                    <a:pt x="2950908" y="1061130"/>
                  </a:lnTo>
                  <a:lnTo>
                    <a:pt x="2966986" y="1106752"/>
                  </a:lnTo>
                  <a:lnTo>
                    <a:pt x="2982760" y="1152686"/>
                  </a:lnTo>
                  <a:lnTo>
                    <a:pt x="2998227" y="1198928"/>
                  </a:lnTo>
                  <a:lnTo>
                    <a:pt x="3013386" y="1245476"/>
                  </a:lnTo>
                  <a:lnTo>
                    <a:pt x="3028235" y="1292326"/>
                  </a:lnTo>
                  <a:lnTo>
                    <a:pt x="3042770" y="1339474"/>
                  </a:lnTo>
                  <a:lnTo>
                    <a:pt x="3056990" y="1386917"/>
                  </a:lnTo>
                  <a:lnTo>
                    <a:pt x="3070893" y="1434650"/>
                  </a:lnTo>
                  <a:lnTo>
                    <a:pt x="3084476" y="1482671"/>
                  </a:lnTo>
                  <a:lnTo>
                    <a:pt x="3097737" y="1530977"/>
                  </a:lnTo>
                  <a:lnTo>
                    <a:pt x="3110674" y="1579562"/>
                  </a:lnTo>
                  <a:lnTo>
                    <a:pt x="3123285" y="1628424"/>
                  </a:lnTo>
                  <a:lnTo>
                    <a:pt x="3135567" y="1677560"/>
                  </a:lnTo>
                  <a:lnTo>
                    <a:pt x="3147519" y="1726965"/>
                  </a:lnTo>
                  <a:lnTo>
                    <a:pt x="3159138" y="1776636"/>
                  </a:lnTo>
                  <a:lnTo>
                    <a:pt x="3170422" y="1826570"/>
                  </a:lnTo>
                  <a:lnTo>
                    <a:pt x="3181368" y="1876763"/>
                  </a:lnTo>
                  <a:lnTo>
                    <a:pt x="3191975" y="1927211"/>
                  </a:lnTo>
                  <a:lnTo>
                    <a:pt x="3202240" y="1977911"/>
                  </a:lnTo>
                  <a:lnTo>
                    <a:pt x="3212161" y="2028860"/>
                  </a:lnTo>
                  <a:lnTo>
                    <a:pt x="3221736" y="2080053"/>
                  </a:lnTo>
                  <a:lnTo>
                    <a:pt x="3230963" y="2131487"/>
                  </a:lnTo>
                  <a:lnTo>
                    <a:pt x="3239839" y="2183159"/>
                  </a:lnTo>
                  <a:lnTo>
                    <a:pt x="3248362" y="2235065"/>
                  </a:lnTo>
                  <a:lnTo>
                    <a:pt x="3256530" y="2287202"/>
                  </a:lnTo>
                  <a:lnTo>
                    <a:pt x="3264341" y="2339565"/>
                  </a:lnTo>
                  <a:lnTo>
                    <a:pt x="3271792" y="2392152"/>
                  </a:lnTo>
                  <a:lnTo>
                    <a:pt x="3278882" y="2444959"/>
                  </a:lnTo>
                  <a:lnTo>
                    <a:pt x="3285608" y="2497982"/>
                  </a:lnTo>
                  <a:lnTo>
                    <a:pt x="3291968" y="2551217"/>
                  </a:lnTo>
                  <a:lnTo>
                    <a:pt x="3297959" y="2604662"/>
                  </a:lnTo>
                  <a:lnTo>
                    <a:pt x="3303580" y="2658312"/>
                  </a:lnTo>
                  <a:lnTo>
                    <a:pt x="3308829" y="2712164"/>
                  </a:lnTo>
                  <a:lnTo>
                    <a:pt x="3313702" y="2766214"/>
                  </a:lnTo>
                  <a:lnTo>
                    <a:pt x="3318198" y="2820460"/>
                  </a:lnTo>
                  <a:lnTo>
                    <a:pt x="3322315" y="2874896"/>
                  </a:lnTo>
                  <a:lnTo>
                    <a:pt x="3326050" y="2929521"/>
                  </a:lnTo>
                  <a:lnTo>
                    <a:pt x="3329402" y="2984329"/>
                  </a:lnTo>
                  <a:lnTo>
                    <a:pt x="3332367" y="3039318"/>
                  </a:lnTo>
                  <a:lnTo>
                    <a:pt x="3334944" y="3094484"/>
                  </a:lnTo>
                  <a:lnTo>
                    <a:pt x="3337131" y="3149824"/>
                  </a:lnTo>
                  <a:lnTo>
                    <a:pt x="3338925" y="3205334"/>
                  </a:lnTo>
                  <a:lnTo>
                    <a:pt x="3340325" y="3261009"/>
                  </a:lnTo>
                  <a:lnTo>
                    <a:pt x="3341327" y="3316848"/>
                  </a:lnTo>
                  <a:lnTo>
                    <a:pt x="3341930" y="3372846"/>
                  </a:lnTo>
                  <a:lnTo>
                    <a:pt x="3342132" y="3429000"/>
                  </a:lnTo>
                  <a:lnTo>
                    <a:pt x="3341930" y="3485153"/>
                  </a:lnTo>
                  <a:lnTo>
                    <a:pt x="3341327" y="3541151"/>
                  </a:lnTo>
                  <a:lnTo>
                    <a:pt x="3340325" y="3596990"/>
                  </a:lnTo>
                  <a:lnTo>
                    <a:pt x="3338925" y="3652666"/>
                  </a:lnTo>
                  <a:lnTo>
                    <a:pt x="3337131" y="3708175"/>
                  </a:lnTo>
                  <a:lnTo>
                    <a:pt x="3334944" y="3763515"/>
                  </a:lnTo>
                  <a:lnTo>
                    <a:pt x="3332367" y="3818681"/>
                  </a:lnTo>
                  <a:lnTo>
                    <a:pt x="3329402" y="3873671"/>
                  </a:lnTo>
                  <a:lnTo>
                    <a:pt x="3326050" y="3928479"/>
                  </a:lnTo>
                  <a:lnTo>
                    <a:pt x="3322315" y="3983104"/>
                  </a:lnTo>
                  <a:lnTo>
                    <a:pt x="3318198" y="4037541"/>
                  </a:lnTo>
                  <a:lnTo>
                    <a:pt x="3313702" y="4091786"/>
                  </a:lnTo>
                  <a:lnTo>
                    <a:pt x="3308829" y="4145837"/>
                  </a:lnTo>
                  <a:lnTo>
                    <a:pt x="3303580" y="4199689"/>
                  </a:lnTo>
                  <a:lnTo>
                    <a:pt x="3297959" y="4253340"/>
                  </a:lnTo>
                  <a:lnTo>
                    <a:pt x="3291968" y="4306784"/>
                  </a:lnTo>
                  <a:lnTo>
                    <a:pt x="3285608" y="4360020"/>
                  </a:lnTo>
                  <a:lnTo>
                    <a:pt x="3278882" y="4413043"/>
                  </a:lnTo>
                  <a:lnTo>
                    <a:pt x="3271792" y="4465850"/>
                  </a:lnTo>
                  <a:lnTo>
                    <a:pt x="3264341" y="4518437"/>
                  </a:lnTo>
                  <a:lnTo>
                    <a:pt x="3256530" y="4570800"/>
                  </a:lnTo>
                  <a:lnTo>
                    <a:pt x="3248362" y="4622937"/>
                  </a:lnTo>
                  <a:lnTo>
                    <a:pt x="3239839" y="4674843"/>
                  </a:lnTo>
                  <a:lnTo>
                    <a:pt x="3230963" y="4726515"/>
                  </a:lnTo>
                  <a:lnTo>
                    <a:pt x="3221736" y="4777950"/>
                  </a:lnTo>
                  <a:lnTo>
                    <a:pt x="3212161" y="4829143"/>
                  </a:lnTo>
                  <a:lnTo>
                    <a:pt x="3202240" y="4880091"/>
                  </a:lnTo>
                  <a:lnTo>
                    <a:pt x="3191975" y="4930792"/>
                  </a:lnTo>
                  <a:lnTo>
                    <a:pt x="3181368" y="4981240"/>
                  </a:lnTo>
                  <a:lnTo>
                    <a:pt x="3170422" y="5031433"/>
                  </a:lnTo>
                  <a:lnTo>
                    <a:pt x="3159138" y="5081366"/>
                  </a:lnTo>
                  <a:lnTo>
                    <a:pt x="3147519" y="5131037"/>
                  </a:lnTo>
                  <a:lnTo>
                    <a:pt x="3135567" y="5180442"/>
                  </a:lnTo>
                  <a:lnTo>
                    <a:pt x="3123285" y="5229578"/>
                  </a:lnTo>
                  <a:lnTo>
                    <a:pt x="3110674" y="5278440"/>
                  </a:lnTo>
                  <a:lnTo>
                    <a:pt x="3097737" y="5327025"/>
                  </a:lnTo>
                  <a:lnTo>
                    <a:pt x="3084476" y="5375330"/>
                  </a:lnTo>
                  <a:lnTo>
                    <a:pt x="3070893" y="5423350"/>
                  </a:lnTo>
                  <a:lnTo>
                    <a:pt x="3056990" y="5471083"/>
                  </a:lnTo>
                  <a:lnTo>
                    <a:pt x="3042770" y="5518525"/>
                  </a:lnTo>
                  <a:lnTo>
                    <a:pt x="3028235" y="5565673"/>
                  </a:lnTo>
                  <a:lnTo>
                    <a:pt x="3013386" y="5612522"/>
                  </a:lnTo>
                  <a:lnTo>
                    <a:pt x="2998227" y="5659069"/>
                  </a:lnTo>
                  <a:lnTo>
                    <a:pt x="2982760" y="5705311"/>
                  </a:lnTo>
                  <a:lnTo>
                    <a:pt x="2966986" y="5751244"/>
                  </a:lnTo>
                  <a:lnTo>
                    <a:pt x="2950908" y="5796864"/>
                  </a:lnTo>
                  <a:lnTo>
                    <a:pt x="2934528" y="5842169"/>
                  </a:lnTo>
                  <a:lnTo>
                    <a:pt x="2917848" y="5887154"/>
                  </a:lnTo>
                  <a:lnTo>
                    <a:pt x="2900871" y="5931815"/>
                  </a:lnTo>
                  <a:lnTo>
                    <a:pt x="2883599" y="5976150"/>
                  </a:lnTo>
                  <a:lnTo>
                    <a:pt x="2866033" y="6020154"/>
                  </a:lnTo>
                  <a:lnTo>
                    <a:pt x="2848177" y="6063825"/>
                  </a:lnTo>
                  <a:lnTo>
                    <a:pt x="2830032" y="6107158"/>
                  </a:lnTo>
                  <a:lnTo>
                    <a:pt x="2811600" y="6150150"/>
                  </a:lnTo>
                  <a:lnTo>
                    <a:pt x="2792884" y="6192797"/>
                  </a:lnTo>
                  <a:lnTo>
                    <a:pt x="2773887" y="6235096"/>
                  </a:lnTo>
                  <a:lnTo>
                    <a:pt x="2754609" y="6277044"/>
                  </a:lnTo>
                  <a:lnTo>
                    <a:pt x="2735054" y="6318636"/>
                  </a:lnTo>
                  <a:lnTo>
                    <a:pt x="2715224" y="6359869"/>
                  </a:lnTo>
                  <a:lnTo>
                    <a:pt x="2695120" y="6400740"/>
                  </a:lnTo>
                  <a:lnTo>
                    <a:pt x="2674746" y="6441245"/>
                  </a:lnTo>
                  <a:lnTo>
                    <a:pt x="2654102" y="6481380"/>
                  </a:lnTo>
                  <a:lnTo>
                    <a:pt x="2633193" y="6521142"/>
                  </a:lnTo>
                  <a:lnTo>
                    <a:pt x="2612019" y="6560527"/>
                  </a:lnTo>
                  <a:lnTo>
                    <a:pt x="2590582" y="6599533"/>
                  </a:lnTo>
                  <a:lnTo>
                    <a:pt x="2568886" y="6638154"/>
                  </a:lnTo>
                  <a:lnTo>
                    <a:pt x="2546933" y="6676388"/>
                  </a:lnTo>
                  <a:lnTo>
                    <a:pt x="2524723" y="6714231"/>
                  </a:lnTo>
                  <a:lnTo>
                    <a:pt x="2502261" y="6751679"/>
                  </a:lnTo>
                  <a:lnTo>
                    <a:pt x="2479548" y="6788730"/>
                  </a:lnTo>
                  <a:lnTo>
                    <a:pt x="2432304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3335020" cy="6858000"/>
            </a:xfrm>
            <a:custGeom>
              <a:avLst/>
              <a:gdLst/>
              <a:ahLst/>
              <a:cxnLst/>
              <a:rect l="l" t="t" r="r" b="b"/>
              <a:pathLst>
                <a:path w="3335020" h="6858000">
                  <a:moveTo>
                    <a:pt x="242493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424938" y="6857999"/>
                  </a:lnTo>
                  <a:lnTo>
                    <a:pt x="2472055" y="6788730"/>
                  </a:lnTo>
                  <a:lnTo>
                    <a:pt x="2494768" y="6751679"/>
                  </a:lnTo>
                  <a:lnTo>
                    <a:pt x="2517230" y="6714231"/>
                  </a:lnTo>
                  <a:lnTo>
                    <a:pt x="2539439" y="6676388"/>
                  </a:lnTo>
                  <a:lnTo>
                    <a:pt x="2561392" y="6638154"/>
                  </a:lnTo>
                  <a:lnTo>
                    <a:pt x="2583087" y="6599533"/>
                  </a:lnTo>
                  <a:lnTo>
                    <a:pt x="2604523" y="6560527"/>
                  </a:lnTo>
                  <a:lnTo>
                    <a:pt x="2625696" y="6521142"/>
                  </a:lnTo>
                  <a:lnTo>
                    <a:pt x="2646605" y="6481380"/>
                  </a:lnTo>
                  <a:lnTo>
                    <a:pt x="2667247" y="6441245"/>
                  </a:lnTo>
                  <a:lnTo>
                    <a:pt x="2687620" y="6400740"/>
                  </a:lnTo>
                  <a:lnTo>
                    <a:pt x="2707722" y="6359869"/>
                  </a:lnTo>
                  <a:lnTo>
                    <a:pt x="2727551" y="6318636"/>
                  </a:lnTo>
                  <a:lnTo>
                    <a:pt x="2747105" y="6277044"/>
                  </a:lnTo>
                  <a:lnTo>
                    <a:pt x="2766381" y="6235096"/>
                  </a:lnTo>
                  <a:lnTo>
                    <a:pt x="2785376" y="6192797"/>
                  </a:lnTo>
                  <a:lnTo>
                    <a:pt x="2804090" y="6150150"/>
                  </a:lnTo>
                  <a:lnTo>
                    <a:pt x="2822520" y="6107158"/>
                  </a:lnTo>
                  <a:lnTo>
                    <a:pt x="2840663" y="6063825"/>
                  </a:lnTo>
                  <a:lnTo>
                    <a:pt x="2858517" y="6020154"/>
                  </a:lnTo>
                  <a:lnTo>
                    <a:pt x="2876080" y="5976150"/>
                  </a:lnTo>
                  <a:lnTo>
                    <a:pt x="2893351" y="5931815"/>
                  </a:lnTo>
                  <a:lnTo>
                    <a:pt x="2910325" y="5887154"/>
                  </a:lnTo>
                  <a:lnTo>
                    <a:pt x="2927003" y="5842169"/>
                  </a:lnTo>
                  <a:lnTo>
                    <a:pt x="2943380" y="5796864"/>
                  </a:lnTo>
                  <a:lnTo>
                    <a:pt x="2959456" y="5751244"/>
                  </a:lnTo>
                  <a:lnTo>
                    <a:pt x="2975227" y="5705311"/>
                  </a:lnTo>
                  <a:lnTo>
                    <a:pt x="2990692" y="5659069"/>
                  </a:lnTo>
                  <a:lnTo>
                    <a:pt x="3005849" y="5612522"/>
                  </a:lnTo>
                  <a:lnTo>
                    <a:pt x="3020694" y="5565673"/>
                  </a:lnTo>
                  <a:lnTo>
                    <a:pt x="3035227" y="5518525"/>
                  </a:lnTo>
                  <a:lnTo>
                    <a:pt x="3049444" y="5471083"/>
                  </a:lnTo>
                  <a:lnTo>
                    <a:pt x="3063344" y="5423350"/>
                  </a:lnTo>
                  <a:lnTo>
                    <a:pt x="3076925" y="5375330"/>
                  </a:lnTo>
                  <a:lnTo>
                    <a:pt x="3090183" y="5327025"/>
                  </a:lnTo>
                  <a:lnTo>
                    <a:pt x="3103118" y="5278440"/>
                  </a:lnTo>
                  <a:lnTo>
                    <a:pt x="3115726" y="5229578"/>
                  </a:lnTo>
                  <a:lnTo>
                    <a:pt x="3128005" y="5180442"/>
                  </a:lnTo>
                  <a:lnTo>
                    <a:pt x="3139954" y="5131037"/>
                  </a:lnTo>
                  <a:lnTo>
                    <a:pt x="3151571" y="5081366"/>
                  </a:lnTo>
                  <a:lnTo>
                    <a:pt x="3162852" y="5031433"/>
                  </a:lnTo>
                  <a:lnTo>
                    <a:pt x="3173795" y="4981240"/>
                  </a:lnTo>
                  <a:lnTo>
                    <a:pt x="3184400" y="4930792"/>
                  </a:lnTo>
                  <a:lnTo>
                    <a:pt x="3194662" y="4880091"/>
                  </a:lnTo>
                  <a:lnTo>
                    <a:pt x="3204581" y="4829143"/>
                  </a:lnTo>
                  <a:lnTo>
                    <a:pt x="3214153" y="4777950"/>
                  </a:lnTo>
                  <a:lnTo>
                    <a:pt x="3223377" y="4726515"/>
                  </a:lnTo>
                  <a:lnTo>
                    <a:pt x="3232251" y="4674843"/>
                  </a:lnTo>
                  <a:lnTo>
                    <a:pt x="3240772" y="4622937"/>
                  </a:lnTo>
                  <a:lnTo>
                    <a:pt x="3248937" y="4570800"/>
                  </a:lnTo>
                  <a:lnTo>
                    <a:pt x="3256746" y="4518437"/>
                  </a:lnTo>
                  <a:lnTo>
                    <a:pt x="3264195" y="4465850"/>
                  </a:lnTo>
                  <a:lnTo>
                    <a:pt x="3271283" y="4413043"/>
                  </a:lnTo>
                  <a:lnTo>
                    <a:pt x="3278007" y="4360020"/>
                  </a:lnTo>
                  <a:lnTo>
                    <a:pt x="3284365" y="4306784"/>
                  </a:lnTo>
                  <a:lnTo>
                    <a:pt x="3290354" y="4253340"/>
                  </a:lnTo>
                  <a:lnTo>
                    <a:pt x="3295974" y="4199689"/>
                  </a:lnTo>
                  <a:lnTo>
                    <a:pt x="3301220" y="4145837"/>
                  </a:lnTo>
                  <a:lnTo>
                    <a:pt x="3306092" y="4091786"/>
                  </a:lnTo>
                  <a:lnTo>
                    <a:pt x="3310587" y="4037541"/>
                  </a:lnTo>
                  <a:lnTo>
                    <a:pt x="3314702" y="3983104"/>
                  </a:lnTo>
                  <a:lnTo>
                    <a:pt x="3318436" y="3928479"/>
                  </a:lnTo>
                  <a:lnTo>
                    <a:pt x="3321786" y="3873671"/>
                  </a:lnTo>
                  <a:lnTo>
                    <a:pt x="3324751" y="3818681"/>
                  </a:lnTo>
                  <a:lnTo>
                    <a:pt x="3327327" y="3763515"/>
                  </a:lnTo>
                  <a:lnTo>
                    <a:pt x="3329513" y="3708175"/>
                  </a:lnTo>
                  <a:lnTo>
                    <a:pt x="3331307" y="3652666"/>
                  </a:lnTo>
                  <a:lnTo>
                    <a:pt x="3332705" y="3596990"/>
                  </a:lnTo>
                  <a:lnTo>
                    <a:pt x="3333707" y="3541151"/>
                  </a:lnTo>
                  <a:lnTo>
                    <a:pt x="3334310" y="3485153"/>
                  </a:lnTo>
                  <a:lnTo>
                    <a:pt x="3334512" y="3429000"/>
                  </a:lnTo>
                  <a:lnTo>
                    <a:pt x="3334310" y="3372846"/>
                  </a:lnTo>
                  <a:lnTo>
                    <a:pt x="3333707" y="3316848"/>
                  </a:lnTo>
                  <a:lnTo>
                    <a:pt x="3332705" y="3261009"/>
                  </a:lnTo>
                  <a:lnTo>
                    <a:pt x="3331307" y="3205334"/>
                  </a:lnTo>
                  <a:lnTo>
                    <a:pt x="3329513" y="3149824"/>
                  </a:lnTo>
                  <a:lnTo>
                    <a:pt x="3327327" y="3094484"/>
                  </a:lnTo>
                  <a:lnTo>
                    <a:pt x="3324751" y="3039318"/>
                  </a:lnTo>
                  <a:lnTo>
                    <a:pt x="3321786" y="2984329"/>
                  </a:lnTo>
                  <a:lnTo>
                    <a:pt x="3318436" y="2929521"/>
                  </a:lnTo>
                  <a:lnTo>
                    <a:pt x="3314702" y="2874896"/>
                  </a:lnTo>
                  <a:lnTo>
                    <a:pt x="3310587" y="2820460"/>
                  </a:lnTo>
                  <a:lnTo>
                    <a:pt x="3306092" y="2766214"/>
                  </a:lnTo>
                  <a:lnTo>
                    <a:pt x="3301220" y="2712164"/>
                  </a:lnTo>
                  <a:lnTo>
                    <a:pt x="3295974" y="2658312"/>
                  </a:lnTo>
                  <a:lnTo>
                    <a:pt x="3290354" y="2604662"/>
                  </a:lnTo>
                  <a:lnTo>
                    <a:pt x="3284365" y="2551217"/>
                  </a:lnTo>
                  <a:lnTo>
                    <a:pt x="3278007" y="2497982"/>
                  </a:lnTo>
                  <a:lnTo>
                    <a:pt x="3271283" y="2444959"/>
                  </a:lnTo>
                  <a:lnTo>
                    <a:pt x="3264195" y="2392152"/>
                  </a:lnTo>
                  <a:lnTo>
                    <a:pt x="3256746" y="2339565"/>
                  </a:lnTo>
                  <a:lnTo>
                    <a:pt x="3248937" y="2287202"/>
                  </a:lnTo>
                  <a:lnTo>
                    <a:pt x="3240772" y="2235065"/>
                  </a:lnTo>
                  <a:lnTo>
                    <a:pt x="3232251" y="2183159"/>
                  </a:lnTo>
                  <a:lnTo>
                    <a:pt x="3223377" y="2131487"/>
                  </a:lnTo>
                  <a:lnTo>
                    <a:pt x="3214153" y="2080053"/>
                  </a:lnTo>
                  <a:lnTo>
                    <a:pt x="3204581" y="2028860"/>
                  </a:lnTo>
                  <a:lnTo>
                    <a:pt x="3194662" y="1977911"/>
                  </a:lnTo>
                  <a:lnTo>
                    <a:pt x="3184400" y="1927211"/>
                  </a:lnTo>
                  <a:lnTo>
                    <a:pt x="3173795" y="1876763"/>
                  </a:lnTo>
                  <a:lnTo>
                    <a:pt x="3162852" y="1826570"/>
                  </a:lnTo>
                  <a:lnTo>
                    <a:pt x="3151571" y="1776636"/>
                  </a:lnTo>
                  <a:lnTo>
                    <a:pt x="3139954" y="1726965"/>
                  </a:lnTo>
                  <a:lnTo>
                    <a:pt x="3128005" y="1677560"/>
                  </a:lnTo>
                  <a:lnTo>
                    <a:pt x="3115726" y="1628424"/>
                  </a:lnTo>
                  <a:lnTo>
                    <a:pt x="3103117" y="1579562"/>
                  </a:lnTo>
                  <a:lnTo>
                    <a:pt x="3090183" y="1530977"/>
                  </a:lnTo>
                  <a:lnTo>
                    <a:pt x="3076925" y="1482671"/>
                  </a:lnTo>
                  <a:lnTo>
                    <a:pt x="3063344" y="1434650"/>
                  </a:lnTo>
                  <a:lnTo>
                    <a:pt x="3049444" y="1386917"/>
                  </a:lnTo>
                  <a:lnTo>
                    <a:pt x="3035227" y="1339474"/>
                  </a:lnTo>
                  <a:lnTo>
                    <a:pt x="3020694" y="1292326"/>
                  </a:lnTo>
                  <a:lnTo>
                    <a:pt x="3005849" y="1245476"/>
                  </a:lnTo>
                  <a:lnTo>
                    <a:pt x="2990692" y="1198928"/>
                  </a:lnTo>
                  <a:lnTo>
                    <a:pt x="2975227" y="1152686"/>
                  </a:lnTo>
                  <a:lnTo>
                    <a:pt x="2959456" y="1106752"/>
                  </a:lnTo>
                  <a:lnTo>
                    <a:pt x="2943380" y="1061130"/>
                  </a:lnTo>
                  <a:lnTo>
                    <a:pt x="2927003" y="1015825"/>
                  </a:lnTo>
                  <a:lnTo>
                    <a:pt x="2910325" y="970839"/>
                  </a:lnTo>
                  <a:lnTo>
                    <a:pt x="2893351" y="926176"/>
                  </a:lnTo>
                  <a:lnTo>
                    <a:pt x="2876080" y="881840"/>
                  </a:lnTo>
                  <a:lnTo>
                    <a:pt x="2858517" y="837835"/>
                  </a:lnTo>
                  <a:lnTo>
                    <a:pt x="2840663" y="794163"/>
                  </a:lnTo>
                  <a:lnTo>
                    <a:pt x="2822520" y="750828"/>
                  </a:lnTo>
                  <a:lnTo>
                    <a:pt x="2804090" y="707835"/>
                  </a:lnTo>
                  <a:lnTo>
                    <a:pt x="2785376" y="665186"/>
                  </a:lnTo>
                  <a:lnTo>
                    <a:pt x="2766381" y="622885"/>
                  </a:lnTo>
                  <a:lnTo>
                    <a:pt x="2747105" y="580935"/>
                  </a:lnTo>
                  <a:lnTo>
                    <a:pt x="2727551" y="539341"/>
                  </a:lnTo>
                  <a:lnTo>
                    <a:pt x="2707722" y="498106"/>
                  </a:lnTo>
                  <a:lnTo>
                    <a:pt x="2687620" y="457233"/>
                  </a:lnTo>
                  <a:lnTo>
                    <a:pt x="2667247" y="416726"/>
                  </a:lnTo>
                  <a:lnTo>
                    <a:pt x="2646605" y="376588"/>
                  </a:lnTo>
                  <a:lnTo>
                    <a:pt x="2625696" y="336823"/>
                  </a:lnTo>
                  <a:lnTo>
                    <a:pt x="2604523" y="297435"/>
                  </a:lnTo>
                  <a:lnTo>
                    <a:pt x="2583087" y="258427"/>
                  </a:lnTo>
                  <a:lnTo>
                    <a:pt x="2561392" y="219803"/>
                  </a:lnTo>
                  <a:lnTo>
                    <a:pt x="2539439" y="181566"/>
                  </a:lnTo>
                  <a:lnTo>
                    <a:pt x="2517230" y="143720"/>
                  </a:lnTo>
                  <a:lnTo>
                    <a:pt x="2494768" y="106268"/>
                  </a:lnTo>
                  <a:lnTo>
                    <a:pt x="2472055" y="69215"/>
                  </a:lnTo>
                  <a:lnTo>
                    <a:pt x="24249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7022" y="1513078"/>
            <a:ext cx="29622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latin typeface="Calibri Light"/>
                <a:cs typeface="Calibri Light"/>
              </a:rPr>
              <a:t>Analyzing </a:t>
            </a:r>
            <a:r>
              <a:rPr sz="2400" dirty="0">
                <a:latin typeface="Calibri Light"/>
                <a:cs typeface="Calibri Light"/>
              </a:rPr>
              <a:t>and </a:t>
            </a:r>
            <a:r>
              <a:rPr sz="2400" spc="-10" dirty="0">
                <a:latin typeface="Calibri Light"/>
                <a:cs typeface="Calibri Light"/>
              </a:rPr>
              <a:t>Detecting </a:t>
            </a:r>
            <a:r>
              <a:rPr sz="2400" spc="-530" dirty="0">
                <a:latin typeface="Calibri Light"/>
                <a:cs typeface="Calibri Light"/>
              </a:rPr>
              <a:t> </a:t>
            </a:r>
            <a:r>
              <a:rPr sz="2400" spc="-10" dirty="0">
                <a:latin typeface="Calibri Light"/>
                <a:cs typeface="Calibri Light"/>
              </a:rPr>
              <a:t>Outliers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515" y="844296"/>
            <a:ext cx="2505710" cy="1617345"/>
            <a:chOff x="318515" y="844296"/>
            <a:chExt cx="2505710" cy="1617345"/>
          </a:xfrm>
        </p:grpSpPr>
        <p:sp>
          <p:nvSpPr>
            <p:cNvPr id="9" name="object 9"/>
            <p:cNvSpPr/>
            <p:nvPr/>
          </p:nvSpPr>
          <p:spPr>
            <a:xfrm>
              <a:off x="318515" y="844296"/>
              <a:ext cx="411480" cy="73660"/>
            </a:xfrm>
            <a:custGeom>
              <a:avLst/>
              <a:gdLst/>
              <a:ahLst/>
              <a:cxnLst/>
              <a:rect l="l" t="t" r="r" b="b"/>
              <a:pathLst>
                <a:path w="411480" h="73659">
                  <a:moveTo>
                    <a:pt x="41148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1480" y="73151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563" y="2442972"/>
              <a:ext cx="2502535" cy="18415"/>
            </a:xfrm>
            <a:custGeom>
              <a:avLst/>
              <a:gdLst/>
              <a:ahLst/>
              <a:cxnLst/>
              <a:rect l="l" t="t" r="r" b="b"/>
              <a:pathLst>
                <a:path w="2502535" h="18414">
                  <a:moveTo>
                    <a:pt x="2502408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2502408" y="18287"/>
                  </a:lnTo>
                  <a:lnTo>
                    <a:pt x="2502408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4525" y="2630170"/>
            <a:ext cx="3511550" cy="2536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125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spc="-5" dirty="0">
                <a:latin typeface="Calibri"/>
                <a:cs typeface="Calibri"/>
              </a:rPr>
              <a:t>AMT_INCOME_TOTAL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(Income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client)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column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ts val="1255"/>
              </a:lnSpc>
            </a:pPr>
            <a:r>
              <a:rPr sz="1100" dirty="0">
                <a:latin typeface="Calibri"/>
                <a:cs typeface="Calibri"/>
              </a:rPr>
              <a:t>can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income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117M,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outlier.</a:t>
            </a:r>
            <a:endParaRPr sz="1100">
              <a:latin typeface="Calibri"/>
              <a:cs typeface="Calibri"/>
            </a:endParaRPr>
          </a:p>
          <a:p>
            <a:pPr marL="12700" marR="174625">
              <a:lnSpc>
                <a:spcPts val="119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AMT_CREDIT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columns: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Credit </a:t>
            </a:r>
            <a:r>
              <a:rPr sz="1100" spc="-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amount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 Million.</a:t>
            </a:r>
            <a:endParaRPr sz="1100">
              <a:latin typeface="Calibri"/>
              <a:cs typeface="Calibri"/>
            </a:endParaRPr>
          </a:p>
          <a:p>
            <a:pPr marL="12700" marR="238125">
              <a:lnSpc>
                <a:spcPts val="119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AMT_ANNUITY: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Annuity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amount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see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value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250k,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treated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outlier.</a:t>
            </a:r>
            <a:endParaRPr sz="1100">
              <a:latin typeface="Calibri"/>
              <a:cs typeface="Calibri"/>
            </a:endParaRPr>
          </a:p>
          <a:p>
            <a:pPr marL="12700" marR="15240">
              <a:lnSpc>
                <a:spcPts val="1190"/>
              </a:lnSpc>
              <a:spcBef>
                <a:spcPts val="5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AMT_GOODS_PRICE: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consumer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loans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goods </a:t>
            </a:r>
            <a:r>
              <a:rPr sz="1100" spc="-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which the loan is given. </a:t>
            </a:r>
            <a:r>
              <a:rPr sz="1100" spc="-5" dirty="0">
                <a:latin typeface="Calibri"/>
                <a:cs typeface="Calibri"/>
              </a:rPr>
              <a:t>There </a:t>
            </a:r>
            <a:r>
              <a:rPr sz="1100" dirty="0">
                <a:latin typeface="Calibri"/>
                <a:cs typeface="Calibri"/>
              </a:rPr>
              <a:t>is an outlier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above 4 Million. </a:t>
            </a:r>
            <a:r>
              <a:rPr sz="1100" spc="-5" dirty="0">
                <a:latin typeface="Calibri"/>
                <a:cs typeface="Calibri"/>
              </a:rPr>
              <a:t>Infect </a:t>
            </a:r>
            <a:r>
              <a:rPr sz="1100" dirty="0">
                <a:latin typeface="Calibri"/>
                <a:cs typeface="Calibri"/>
              </a:rPr>
              <a:t>there are very </a:t>
            </a:r>
            <a:r>
              <a:rPr sz="1100" spc="-5" dirty="0">
                <a:latin typeface="Calibri"/>
                <a:cs typeface="Calibri"/>
              </a:rPr>
              <a:t>few observations </a:t>
            </a:r>
            <a:r>
              <a:rPr sz="1100" dirty="0">
                <a:latin typeface="Calibri"/>
                <a:cs typeface="Calibri"/>
              </a:rPr>
              <a:t> between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3.5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Million.</a:t>
            </a:r>
            <a:endParaRPr sz="1100">
              <a:latin typeface="Calibri"/>
              <a:cs typeface="Calibri"/>
            </a:endParaRPr>
          </a:p>
          <a:p>
            <a:pPr marL="12700" marR="86995">
              <a:lnSpc>
                <a:spcPts val="1190"/>
              </a:lnSpc>
              <a:spcBef>
                <a:spcPts val="5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spc="-5" dirty="0">
                <a:latin typeface="Calibri"/>
                <a:cs typeface="Calibri"/>
              </a:rPr>
              <a:t>DAYS_BIRTH: Client's </a:t>
            </a:r>
            <a:r>
              <a:rPr sz="1100" dirty="0">
                <a:latin typeface="Calibri"/>
                <a:cs typeface="Calibri"/>
              </a:rPr>
              <a:t>age in </a:t>
            </a:r>
            <a:r>
              <a:rPr sz="1100" spc="-5" dirty="0">
                <a:latin typeface="Calibri"/>
                <a:cs typeface="Calibri"/>
              </a:rPr>
              <a:t>days </a:t>
            </a:r>
            <a:r>
              <a:rPr sz="1100" dirty="0">
                <a:latin typeface="Calibri"/>
                <a:cs typeface="Calibri"/>
              </a:rPr>
              <a:t>at the time of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application. There </a:t>
            </a:r>
            <a:r>
              <a:rPr sz="1100" dirty="0">
                <a:latin typeface="Calibri"/>
                <a:cs typeface="Calibri"/>
              </a:rPr>
              <a:t>is </a:t>
            </a:r>
            <a:r>
              <a:rPr sz="1100" spc="-5" dirty="0">
                <a:latin typeface="Calibri"/>
                <a:cs typeface="Calibri"/>
              </a:rPr>
              <a:t>no </a:t>
            </a:r>
            <a:r>
              <a:rPr sz="1100" dirty="0">
                <a:latin typeface="Calibri"/>
                <a:cs typeface="Calibri"/>
              </a:rPr>
              <a:t>outlier. Most of the clients have age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(12500/365)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~ 34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Years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(20000/365)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~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55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Years.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spc="-5" dirty="0">
                <a:latin typeface="Calibri"/>
                <a:cs typeface="Calibri"/>
              </a:rPr>
              <a:t>DAYS_EMPLOYED: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How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days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before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525" y="5124069"/>
            <a:ext cx="3336925" cy="6464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5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person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started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5" dirty="0">
                <a:latin typeface="Calibri"/>
                <a:cs typeface="Calibri"/>
              </a:rPr>
              <a:t> employment.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see </a:t>
            </a:r>
            <a:r>
              <a:rPr sz="1100" dirty="0">
                <a:latin typeface="Calibri"/>
                <a:cs typeface="Calibri"/>
              </a:rPr>
              <a:t>there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 55374 </a:t>
            </a:r>
            <a:r>
              <a:rPr sz="1100" spc="-5" dirty="0">
                <a:latin typeface="Calibri"/>
                <a:cs typeface="Calibri"/>
              </a:rPr>
              <a:t>observations </a:t>
            </a:r>
            <a:r>
              <a:rPr sz="1100" dirty="0">
                <a:latin typeface="Calibri"/>
                <a:cs typeface="Calibri"/>
              </a:rPr>
              <a:t>having </a:t>
            </a:r>
            <a:r>
              <a:rPr sz="1100" spc="-5" dirty="0">
                <a:latin typeface="Calibri"/>
                <a:cs typeface="Calibri"/>
              </a:rPr>
              <a:t>DAYS_EMPLOYED= </a:t>
            </a:r>
            <a:r>
              <a:rPr sz="1100" dirty="0">
                <a:latin typeface="Calibri"/>
                <a:cs typeface="Calibri"/>
              </a:rPr>
              <a:t>365243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Days that is 1000 years. </a:t>
            </a:r>
            <a:r>
              <a:rPr sz="1100" spc="-5" dirty="0">
                <a:latin typeface="Calibri"/>
                <a:cs typeface="Calibri"/>
              </a:rPr>
              <a:t>It's surely </a:t>
            </a:r>
            <a:r>
              <a:rPr sz="1100" dirty="0">
                <a:latin typeface="Calibri"/>
                <a:cs typeface="Calibri"/>
              </a:rPr>
              <a:t>some </a:t>
            </a:r>
            <a:r>
              <a:rPr sz="1100" spc="-5" dirty="0">
                <a:latin typeface="Calibri"/>
                <a:cs typeface="Calibri"/>
              </a:rPr>
              <a:t>garbage </a:t>
            </a:r>
            <a:r>
              <a:rPr sz="1100" dirty="0">
                <a:latin typeface="Calibri"/>
                <a:cs typeface="Calibri"/>
              </a:rPr>
              <a:t>data and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should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treated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missing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ignore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value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525" y="5727598"/>
            <a:ext cx="3501390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55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(365243)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again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boxplot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DAYS_EMPLOYED,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55"/>
              </a:lnSpc>
            </a:pPr>
            <a:r>
              <a:rPr sz="1100" dirty="0">
                <a:latin typeface="Calibri"/>
                <a:cs typeface="Calibri"/>
              </a:rPr>
              <a:t>some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above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5" dirty="0">
                <a:latin typeface="Calibri"/>
                <a:cs typeface="Calibri"/>
              </a:rPr>
              <a:t>17500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days.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4525" y="6105855"/>
            <a:ext cx="3479800" cy="6464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spc="-5" dirty="0">
                <a:latin typeface="Calibri"/>
                <a:cs typeface="Calibri"/>
              </a:rPr>
              <a:t>DAYS_REGISTRATION: </a:t>
            </a:r>
            <a:r>
              <a:rPr sz="1100" dirty="0">
                <a:latin typeface="Calibri"/>
                <a:cs typeface="Calibri"/>
              </a:rPr>
              <a:t>How many days before the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application </a:t>
            </a:r>
            <a:r>
              <a:rPr sz="1100" dirty="0">
                <a:latin typeface="Calibri"/>
                <a:cs typeface="Calibri"/>
              </a:rPr>
              <a:t>did client </a:t>
            </a:r>
            <a:r>
              <a:rPr sz="1100" spc="-5" dirty="0">
                <a:latin typeface="Calibri"/>
                <a:cs typeface="Calibri"/>
              </a:rPr>
              <a:t>change his registration. </a:t>
            </a:r>
            <a:r>
              <a:rPr sz="1100" dirty="0">
                <a:latin typeface="Calibri"/>
                <a:cs typeface="Calibri"/>
              </a:rPr>
              <a:t>We can </a:t>
            </a:r>
            <a:r>
              <a:rPr sz="1100" spc="-5" dirty="0">
                <a:latin typeface="Calibri"/>
                <a:cs typeface="Calibri"/>
              </a:rPr>
              <a:t>see few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values between 24k and 25k. </a:t>
            </a:r>
            <a:r>
              <a:rPr sz="1100" spc="-5" dirty="0">
                <a:latin typeface="Calibri"/>
                <a:cs typeface="Calibri"/>
              </a:rPr>
              <a:t>These should be </a:t>
            </a:r>
            <a:r>
              <a:rPr sz="1100" dirty="0">
                <a:latin typeface="Calibri"/>
                <a:cs typeface="Calibri"/>
              </a:rPr>
              <a:t>treated as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8518" y="647149"/>
            <a:ext cx="5049540" cy="45498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310253" y="5680659"/>
            <a:ext cx="4380230" cy="49593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spc="-5" dirty="0">
                <a:latin typeface="Calibri"/>
                <a:cs typeface="Calibri"/>
              </a:rPr>
              <a:t>CNT_FAM_MEMBERS: </a:t>
            </a:r>
            <a:r>
              <a:rPr sz="1100" dirty="0">
                <a:latin typeface="Calibri"/>
                <a:cs typeface="Calibri"/>
              </a:rPr>
              <a:t>How many </a:t>
            </a:r>
            <a:r>
              <a:rPr sz="1100" spc="-5" dirty="0">
                <a:latin typeface="Calibri"/>
                <a:cs typeface="Calibri"/>
              </a:rPr>
              <a:t>family </a:t>
            </a:r>
            <a:r>
              <a:rPr sz="1100" dirty="0">
                <a:latin typeface="Calibri"/>
                <a:cs typeface="Calibri"/>
              </a:rPr>
              <a:t>members does client have. We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 </a:t>
            </a:r>
            <a:r>
              <a:rPr sz="1100" spc="-5" dirty="0">
                <a:latin typeface="Calibri"/>
                <a:cs typeface="Calibri"/>
              </a:rPr>
              <a:t>see </a:t>
            </a:r>
            <a:r>
              <a:rPr sz="1100" dirty="0">
                <a:latin typeface="Calibri"/>
                <a:cs typeface="Calibri"/>
              </a:rPr>
              <a:t>outliers at </a:t>
            </a:r>
            <a:r>
              <a:rPr sz="1100" spc="-5" dirty="0">
                <a:latin typeface="Calibri"/>
                <a:cs typeface="Calibri"/>
              </a:rPr>
              <a:t>value </a:t>
            </a:r>
            <a:r>
              <a:rPr sz="1100" dirty="0">
                <a:latin typeface="Calibri"/>
                <a:cs typeface="Calibri"/>
              </a:rPr>
              <a:t>20. We can also </a:t>
            </a:r>
            <a:r>
              <a:rPr sz="1100" spc="-5" dirty="0">
                <a:latin typeface="Calibri"/>
                <a:cs typeface="Calibri"/>
              </a:rPr>
              <a:t>see </a:t>
            </a:r>
            <a:r>
              <a:rPr sz="1100" dirty="0">
                <a:latin typeface="Calibri"/>
                <a:cs typeface="Calibri"/>
              </a:rPr>
              <a:t>there are very few </a:t>
            </a:r>
            <a:r>
              <a:rPr sz="1100" spc="-5" dirty="0">
                <a:latin typeface="Calibri"/>
                <a:cs typeface="Calibri"/>
              </a:rPr>
              <a:t>observations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15.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10253" y="6209487"/>
            <a:ext cx="4412615" cy="34480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100" spc="-5" dirty="0">
                <a:latin typeface="Calibri"/>
                <a:cs typeface="Calibri"/>
              </a:rPr>
              <a:t>EXT_SOURCE_2: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Normalized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score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from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external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source.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outliers.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Most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scores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.4</a:t>
            </a:r>
            <a:r>
              <a:rPr sz="1100" dirty="0">
                <a:latin typeface="Calibri"/>
                <a:cs typeface="Calibri"/>
              </a:rPr>
              <a:t> 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.65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809040" y="21793"/>
            <a:ext cx="70053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Bahnschrift"/>
                <a:cs typeface="Bahnschrift"/>
              </a:rPr>
              <a:t>Univariate</a:t>
            </a:r>
            <a:r>
              <a:rPr sz="3000" spc="24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45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Numeric</a:t>
            </a:r>
            <a:r>
              <a:rPr sz="3000" spc="27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" y="1196339"/>
            <a:ext cx="9037319" cy="17312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078479"/>
            <a:ext cx="8651748" cy="18577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317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3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Numerical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088" y="5088635"/>
            <a:ext cx="8641080" cy="116903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4290" rIns="0" bIns="0" rtlCol="0">
            <a:spAutoFit/>
          </a:bodyPr>
          <a:lstStyle/>
          <a:p>
            <a:pPr marL="378460" marR="408305" indent="-287020">
              <a:lnSpc>
                <a:spcPct val="100000"/>
              </a:lnSpc>
              <a:spcBef>
                <a:spcPts val="270"/>
              </a:spcBef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sz="1400" dirty="0">
                <a:latin typeface="Calibri"/>
                <a:cs typeface="Calibri"/>
              </a:rPr>
              <a:t>As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AMT_INCOME_TOTAL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 very </a:t>
            </a:r>
            <a:r>
              <a:rPr sz="1400" spc="-5" dirty="0">
                <a:latin typeface="Calibri"/>
                <a:cs typeface="Calibri"/>
              </a:rPr>
              <a:t>distributed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plotting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 </a:t>
            </a:r>
            <a:r>
              <a:rPr sz="1400" spc="-5" dirty="0">
                <a:latin typeface="Calibri"/>
                <a:cs typeface="Calibri"/>
              </a:rPr>
              <a:t>directly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does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not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give good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insight.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Previously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we </a:t>
            </a:r>
            <a:r>
              <a:rPr sz="1400" spc="-15" dirty="0">
                <a:latin typeface="Calibri"/>
                <a:cs typeface="Calibri"/>
              </a:rPr>
              <a:t>have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bins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based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income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['Very</a:t>
            </a:r>
            <a:r>
              <a:rPr sz="1400" dirty="0">
                <a:latin typeface="Calibri"/>
                <a:cs typeface="Calibri"/>
              </a:rPr>
              <a:t> Low',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'Low',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'Lower-Medium',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'Higher-Medium',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'High', </a:t>
            </a:r>
            <a:r>
              <a:rPr sz="1400" spc="-15" dirty="0">
                <a:latin typeface="Calibri"/>
                <a:cs typeface="Calibri"/>
              </a:rPr>
              <a:t>'Very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High']</a:t>
            </a:r>
            <a:endParaRPr sz="1400">
              <a:latin typeface="Calibri"/>
              <a:cs typeface="Calibri"/>
            </a:endParaRPr>
          </a:p>
          <a:p>
            <a:pPr marL="378460" indent="-287655">
              <a:lnSpc>
                <a:spcPct val="100000"/>
              </a:lnSpc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sz="1400" spc="-10" dirty="0">
                <a:latin typeface="Calibri"/>
                <a:cs typeface="Calibri"/>
              </a:rPr>
              <a:t>Here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" dirty="0">
                <a:latin typeface="Calibri"/>
                <a:cs typeface="Calibri"/>
              </a:rPr>
              <a:t> the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first </a:t>
            </a:r>
            <a:r>
              <a:rPr sz="1400" spc="-5" dirty="0">
                <a:latin typeface="Calibri"/>
                <a:cs typeface="Calibri"/>
              </a:rPr>
              <a:t>plot,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we</a:t>
            </a:r>
            <a:r>
              <a:rPr sz="1400" spc="-10" dirty="0">
                <a:latin typeface="Calibri"/>
                <a:cs typeface="Calibri"/>
              </a:rPr>
              <a:t> are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comparing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distribution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AMT_INCOME_TOTAL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LOWER-MEDIUM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income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group.</a:t>
            </a:r>
            <a:endParaRPr sz="1400">
              <a:latin typeface="Calibri"/>
              <a:cs typeface="Calibri"/>
            </a:endParaRPr>
          </a:p>
          <a:p>
            <a:pPr marL="378460" marR="1011555" indent="-287020">
              <a:lnSpc>
                <a:spcPct val="100000"/>
              </a:lnSpc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sz="1400" spc="-10" dirty="0">
                <a:latin typeface="Calibri"/>
                <a:cs typeface="Calibri"/>
              </a:rPr>
              <a:t>There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not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much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difference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distribution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these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numeric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variable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</a:t>
            </a:r>
            <a:r>
              <a:rPr sz="1400" spc="-15" dirty="0">
                <a:latin typeface="Calibri"/>
                <a:cs typeface="Calibri"/>
              </a:rPr>
              <a:t> TARGET=0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and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TARGET=1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observations.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317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3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Numerical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507" y="1629155"/>
            <a:ext cx="2232660" cy="418528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3655" rIns="0" bIns="0" rtlCol="0">
            <a:spAutoFit/>
          </a:bodyPr>
          <a:lstStyle/>
          <a:p>
            <a:pPr marL="379730" marR="86995" indent="-287020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379095" algn="l"/>
                <a:tab pos="379730" algn="l"/>
              </a:tabLst>
            </a:pPr>
            <a:r>
              <a:rPr sz="1400" spc="-5" dirty="0">
                <a:latin typeface="Calibri"/>
                <a:cs typeface="Calibri"/>
              </a:rPr>
              <a:t>EXT_SOURCE_2 </a:t>
            </a:r>
            <a:r>
              <a:rPr sz="1400" dirty="0">
                <a:latin typeface="Calibri"/>
                <a:cs typeface="Calibri"/>
              </a:rPr>
              <a:t>and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EXT_SOURCE_3 </a:t>
            </a:r>
            <a:r>
              <a:rPr sz="1400" spc="-10" dirty="0">
                <a:latin typeface="Calibri"/>
                <a:cs typeface="Calibri"/>
              </a:rPr>
              <a:t>denote </a:t>
            </a:r>
            <a:r>
              <a:rPr sz="1400" spc="-5" dirty="0">
                <a:latin typeface="Calibri"/>
                <a:cs typeface="Calibri"/>
              </a:rPr>
              <a:t> Normalized </a:t>
            </a:r>
            <a:r>
              <a:rPr sz="1400" spc="-10" dirty="0">
                <a:latin typeface="Calibri"/>
                <a:cs typeface="Calibri"/>
              </a:rPr>
              <a:t>score from 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external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source.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both </a:t>
            </a:r>
            <a:r>
              <a:rPr sz="1400" dirty="0">
                <a:latin typeface="Calibri"/>
                <a:cs typeface="Calibri"/>
              </a:rPr>
              <a:t>the </a:t>
            </a:r>
            <a:r>
              <a:rPr sz="1400" spc="-5" dirty="0">
                <a:latin typeface="Calibri"/>
                <a:cs typeface="Calibri"/>
              </a:rPr>
              <a:t>cases specially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 </a:t>
            </a:r>
            <a:r>
              <a:rPr sz="1400" spc="-5" dirty="0">
                <a:latin typeface="Calibri"/>
                <a:cs typeface="Calibri"/>
              </a:rPr>
              <a:t>EXT_SOURCE_3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we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 see clients </a:t>
            </a:r>
            <a:r>
              <a:rPr sz="1400" dirty="0">
                <a:latin typeface="Calibri"/>
                <a:cs typeface="Calibri"/>
              </a:rPr>
              <a:t>who </a:t>
            </a:r>
            <a:r>
              <a:rPr sz="1400" spc="-10" dirty="0">
                <a:latin typeface="Calibri"/>
                <a:cs typeface="Calibri"/>
              </a:rPr>
              <a:t>are </a:t>
            </a:r>
            <a:r>
              <a:rPr sz="1400" spc="-5" dirty="0">
                <a:latin typeface="Calibri"/>
                <a:cs typeface="Calibri"/>
              </a:rPr>
              <a:t> facing difficulties </a:t>
            </a:r>
            <a:r>
              <a:rPr sz="1400" dirty="0">
                <a:latin typeface="Calibri"/>
                <a:cs typeface="Calibri"/>
              </a:rPr>
              <a:t>in loan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repayment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lesser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mode value that other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group. </a:t>
            </a:r>
            <a:r>
              <a:rPr sz="1400" dirty="0">
                <a:latin typeface="Calibri"/>
                <a:cs typeface="Calibri"/>
              </a:rPr>
              <a:t>Bank </a:t>
            </a:r>
            <a:r>
              <a:rPr sz="1400" spc="-5" dirty="0">
                <a:latin typeface="Calibri"/>
                <a:cs typeface="Calibri"/>
              </a:rPr>
              <a:t>should give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more </a:t>
            </a:r>
            <a:r>
              <a:rPr sz="1400" spc="-5" dirty="0">
                <a:latin typeface="Calibri"/>
                <a:cs typeface="Calibri"/>
              </a:rPr>
              <a:t>importance </a:t>
            </a:r>
            <a:r>
              <a:rPr sz="1400" spc="-10" dirty="0">
                <a:latin typeface="Calibri"/>
                <a:cs typeface="Calibri"/>
              </a:rPr>
              <a:t>to </a:t>
            </a:r>
            <a:r>
              <a:rPr sz="1400" spc="-5" dirty="0">
                <a:latin typeface="Calibri"/>
                <a:cs typeface="Calibri"/>
              </a:rPr>
              <a:t> EXT_SOURCE_2 </a:t>
            </a:r>
            <a:r>
              <a:rPr sz="1400" dirty="0">
                <a:latin typeface="Calibri"/>
                <a:cs typeface="Calibri"/>
              </a:rPr>
              <a:t>and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EXT_SOURCE_3 </a:t>
            </a:r>
            <a:r>
              <a:rPr sz="1400" spc="-10" dirty="0">
                <a:latin typeface="Calibri"/>
                <a:cs typeface="Calibri"/>
              </a:rPr>
              <a:t>scores </a:t>
            </a:r>
            <a:r>
              <a:rPr sz="1400" spc="-5" dirty="0">
                <a:latin typeface="Calibri"/>
                <a:cs typeface="Calibri"/>
              </a:rPr>
              <a:t> specially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on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EXT_SOURCE_3 </a:t>
            </a:r>
            <a:r>
              <a:rPr sz="1400" spc="-10" dirty="0">
                <a:latin typeface="Calibri"/>
                <a:cs typeface="Calibri"/>
              </a:rPr>
              <a:t>score 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 </a:t>
            </a:r>
            <a:r>
              <a:rPr sz="1400" spc="-5" dirty="0">
                <a:latin typeface="Calibri"/>
                <a:cs typeface="Calibri"/>
              </a:rPr>
              <a:t>approving </a:t>
            </a:r>
            <a:r>
              <a:rPr sz="1400" dirty="0">
                <a:latin typeface="Calibri"/>
                <a:cs typeface="Calibri"/>
              </a:rPr>
              <a:t>loan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application, </a:t>
            </a:r>
            <a:r>
              <a:rPr sz="1400" dirty="0">
                <a:latin typeface="Calibri"/>
                <a:cs typeface="Calibri"/>
              </a:rPr>
              <a:t>if </a:t>
            </a:r>
            <a:r>
              <a:rPr sz="1400" spc="-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scores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-5" dirty="0">
                <a:latin typeface="Calibri"/>
                <a:cs typeface="Calibri"/>
              </a:rPr>
              <a:t> available.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08" y="3872230"/>
            <a:ext cx="6549852" cy="22213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361" y="1262322"/>
            <a:ext cx="6550240" cy="21068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317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3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Numerical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268" y="621774"/>
            <a:ext cx="6515877" cy="291316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614897"/>
            <a:ext cx="8980805" cy="3094355"/>
            <a:chOff x="0" y="3614897"/>
            <a:chExt cx="8980805" cy="30943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3665" y="3614897"/>
              <a:ext cx="6206520" cy="30701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816095"/>
              <a:ext cx="2863850" cy="2893060"/>
            </a:xfrm>
            <a:custGeom>
              <a:avLst/>
              <a:gdLst/>
              <a:ahLst/>
              <a:cxnLst/>
              <a:rect l="l" t="t" r="r" b="b"/>
              <a:pathLst>
                <a:path w="2863850" h="2893059">
                  <a:moveTo>
                    <a:pt x="2863596" y="0"/>
                  </a:moveTo>
                  <a:lnTo>
                    <a:pt x="0" y="0"/>
                  </a:lnTo>
                  <a:lnTo>
                    <a:pt x="0" y="2892552"/>
                  </a:lnTo>
                  <a:lnTo>
                    <a:pt x="2863596" y="2892552"/>
                  </a:lnTo>
                  <a:lnTo>
                    <a:pt x="2863596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31507" y="1560575"/>
            <a:ext cx="2161540" cy="95440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3655" rIns="0" bIns="0" rtlCol="0">
            <a:spAutoFit/>
          </a:bodyPr>
          <a:lstStyle/>
          <a:p>
            <a:pPr marL="379730" marR="102870" indent="-287020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379095" algn="l"/>
                <a:tab pos="379730" algn="l"/>
              </a:tabLst>
            </a:pPr>
            <a:r>
              <a:rPr sz="1400" spc="-5" dirty="0">
                <a:latin typeface="Calibri"/>
                <a:cs typeface="Calibri"/>
              </a:rPr>
              <a:t>Number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revolving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loan, </a:t>
            </a:r>
            <a:r>
              <a:rPr sz="1400" dirty="0">
                <a:latin typeface="Calibri"/>
                <a:cs typeface="Calibri"/>
              </a:rPr>
              <a:t>in </a:t>
            </a:r>
            <a:r>
              <a:rPr sz="1400" spc="-5" dirty="0">
                <a:latin typeface="Calibri"/>
                <a:cs typeface="Calibri"/>
              </a:rPr>
              <a:t>both the cases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(For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Target=0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1)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3843020"/>
            <a:ext cx="2697480" cy="2795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998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spc="-5" dirty="0">
                <a:latin typeface="Arial MT"/>
                <a:cs typeface="Arial MT"/>
              </a:rPr>
              <a:t>From </a:t>
            </a:r>
            <a:r>
              <a:rPr sz="1400" dirty="0">
                <a:latin typeface="Arial MT"/>
                <a:cs typeface="Arial MT"/>
              </a:rPr>
              <a:t>the </a:t>
            </a:r>
            <a:r>
              <a:rPr sz="1400" spc="-5" dirty="0">
                <a:latin typeface="Arial MT"/>
                <a:cs typeface="Arial MT"/>
              </a:rPr>
              <a:t>visual </a:t>
            </a:r>
            <a:r>
              <a:rPr sz="1400" spc="-10" dirty="0">
                <a:latin typeface="Arial MT"/>
                <a:cs typeface="Arial MT"/>
              </a:rPr>
              <a:t>we </a:t>
            </a:r>
            <a:r>
              <a:rPr sz="1400" dirty="0">
                <a:latin typeface="Arial MT"/>
                <a:cs typeface="Arial MT"/>
              </a:rPr>
              <a:t>can see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number of Female clients are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much </a:t>
            </a:r>
            <a:r>
              <a:rPr sz="1400" dirty="0">
                <a:latin typeface="Arial MT"/>
                <a:cs typeface="Arial MT"/>
              </a:rPr>
              <a:t>higher than the number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ale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clients.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Again,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if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w</a:t>
            </a:r>
            <a:r>
              <a:rPr sz="1400" dirty="0">
                <a:latin typeface="Arial MT"/>
                <a:cs typeface="Arial MT"/>
              </a:rPr>
              <a:t>e  compare the proportion, </a:t>
            </a:r>
            <a:r>
              <a:rPr sz="1400" spc="-5" dirty="0">
                <a:latin typeface="Arial MT"/>
                <a:cs typeface="Arial MT"/>
              </a:rPr>
              <a:t>Male </a:t>
            </a:r>
            <a:r>
              <a:rPr sz="1400" dirty="0">
                <a:latin typeface="Arial MT"/>
                <a:cs typeface="Arial MT"/>
              </a:rPr>
              <a:t> to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Female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proportion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almost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1:2 for </a:t>
            </a:r>
            <a:r>
              <a:rPr sz="1400" spc="-20" dirty="0">
                <a:latin typeface="Arial MT"/>
                <a:cs typeface="Arial MT"/>
              </a:rPr>
              <a:t>Target=0. </a:t>
            </a:r>
            <a:r>
              <a:rPr sz="1400" dirty="0">
                <a:latin typeface="Arial MT"/>
                <a:cs typeface="Arial MT"/>
              </a:rPr>
              <a:t>But for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Target=1</a:t>
            </a:r>
            <a:r>
              <a:rPr sz="1400" spc="-5" dirty="0">
                <a:latin typeface="Arial MT"/>
                <a:cs typeface="Arial MT"/>
              </a:rPr>
              <a:t> Male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client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Female </a:t>
            </a:r>
            <a:r>
              <a:rPr sz="1400" dirty="0">
                <a:latin typeface="Arial MT"/>
                <a:cs typeface="Arial MT"/>
              </a:rPr>
              <a:t>client proportion is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higher in compare to </a:t>
            </a:r>
            <a:r>
              <a:rPr sz="1400" spc="-30" dirty="0">
                <a:latin typeface="Arial MT"/>
                <a:cs typeface="Arial MT"/>
              </a:rPr>
              <a:t>Target </a:t>
            </a:r>
            <a:r>
              <a:rPr sz="1400" dirty="0">
                <a:latin typeface="Arial MT"/>
                <a:cs typeface="Arial MT"/>
              </a:rPr>
              <a:t>0.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 </a:t>
            </a:r>
            <a:r>
              <a:rPr sz="1400" spc="-5" dirty="0">
                <a:latin typeface="Arial MT"/>
                <a:cs typeface="Arial MT"/>
              </a:rPr>
              <a:t>Female </a:t>
            </a:r>
            <a:r>
              <a:rPr sz="1400" dirty="0">
                <a:latin typeface="Arial MT"/>
                <a:cs typeface="Arial MT"/>
              </a:rPr>
              <a:t>clients are less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likely to face </a:t>
            </a:r>
            <a:r>
              <a:rPr sz="1400" spc="-5" dirty="0">
                <a:latin typeface="Arial MT"/>
                <a:cs typeface="Arial MT"/>
              </a:rPr>
              <a:t>payment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difficulties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Male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clients.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25389"/>
            <a:ext cx="9144000" cy="6132830"/>
            <a:chOff x="0" y="725389"/>
            <a:chExt cx="9144000" cy="6132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25389"/>
              <a:ext cx="7143303" cy="32887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" y="883920"/>
              <a:ext cx="6720840" cy="27919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5604" y="3566212"/>
              <a:ext cx="6978396" cy="32917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0676" y="3761232"/>
              <a:ext cx="6577583" cy="27904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488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4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Categorical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7228" y="1479803"/>
            <a:ext cx="2161540" cy="160020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4290" rIns="0" bIns="0" rtlCol="0">
            <a:spAutoFit/>
          </a:bodyPr>
          <a:lstStyle/>
          <a:p>
            <a:pPr marL="379095" marR="92710" indent="-287020">
              <a:lnSpc>
                <a:spcPct val="100000"/>
              </a:lnSpc>
              <a:spcBef>
                <a:spcPts val="270"/>
              </a:spcBef>
              <a:buFont typeface="Wingdings"/>
              <a:buChar char=""/>
              <a:tabLst>
                <a:tab pos="379095" algn="l"/>
                <a:tab pos="379730" algn="l"/>
              </a:tabLst>
            </a:pPr>
            <a:r>
              <a:rPr sz="1400" spc="-5" dirty="0">
                <a:latin typeface="Calibri"/>
                <a:cs typeface="Calibri"/>
              </a:rPr>
              <a:t>If we </a:t>
            </a:r>
            <a:r>
              <a:rPr sz="1400" spc="-10" dirty="0">
                <a:latin typeface="Calibri"/>
                <a:cs typeface="Calibri"/>
              </a:rPr>
              <a:t>compare </a:t>
            </a:r>
            <a:r>
              <a:rPr sz="1400" dirty="0">
                <a:latin typeface="Calibri"/>
                <a:cs typeface="Calibri"/>
              </a:rPr>
              <a:t>the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proportions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both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graphs, </a:t>
            </a:r>
            <a:r>
              <a:rPr sz="1400" spc="-10" dirty="0">
                <a:latin typeface="Calibri"/>
                <a:cs typeface="Calibri"/>
              </a:rPr>
              <a:t>there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not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much </a:t>
            </a:r>
            <a:r>
              <a:rPr sz="1400" spc="-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a </a:t>
            </a:r>
            <a:r>
              <a:rPr sz="1400" spc="-10" dirty="0">
                <a:latin typeface="Calibri"/>
                <a:cs typeface="Calibri"/>
              </a:rPr>
              <a:t>difference. </a:t>
            </a:r>
            <a:r>
              <a:rPr sz="1400" spc="-5" dirty="0">
                <a:latin typeface="Calibri"/>
                <a:cs typeface="Calibri"/>
              </a:rPr>
              <a:t> Clients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having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car/cars 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 </a:t>
            </a:r>
            <a:r>
              <a:rPr sz="1400" spc="-5" dirty="0">
                <a:latin typeface="Calibri"/>
                <a:cs typeface="Calibri"/>
              </a:rPr>
              <a:t>slightly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better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repaying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 loans.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767" y="4355591"/>
            <a:ext cx="2409825" cy="1602105"/>
          </a:xfrm>
          <a:custGeom>
            <a:avLst/>
            <a:gdLst/>
            <a:ahLst/>
            <a:cxnLst/>
            <a:rect l="l" t="t" r="r" b="b"/>
            <a:pathLst>
              <a:path w="2409825" h="1602104">
                <a:moveTo>
                  <a:pt x="2409444" y="0"/>
                </a:moveTo>
                <a:lnTo>
                  <a:pt x="0" y="0"/>
                </a:lnTo>
                <a:lnTo>
                  <a:pt x="0" y="1601724"/>
                </a:lnTo>
                <a:lnTo>
                  <a:pt x="2409444" y="1601724"/>
                </a:lnTo>
                <a:lnTo>
                  <a:pt x="240944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6898" y="4384040"/>
            <a:ext cx="2233930" cy="1515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marR="5080" indent="-287020">
              <a:lnSpc>
                <a:spcPct val="99700"/>
              </a:lnSpc>
              <a:spcBef>
                <a:spcPts val="11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spc="-5" dirty="0">
                <a:latin typeface="Arial MT"/>
                <a:cs typeface="Arial MT"/>
              </a:rPr>
              <a:t>This </a:t>
            </a:r>
            <a:r>
              <a:rPr sz="1400" dirty="0">
                <a:latin typeface="Arial MT"/>
                <a:cs typeface="Arial MT"/>
              </a:rPr>
              <a:t>flag denotes if the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client </a:t>
            </a:r>
            <a:r>
              <a:rPr sz="1400" spc="-5" dirty="0">
                <a:latin typeface="Arial MT"/>
                <a:cs typeface="Arial MT"/>
              </a:rPr>
              <a:t>owns </a:t>
            </a:r>
            <a:r>
              <a:rPr sz="1400" dirty="0">
                <a:latin typeface="Arial MT"/>
                <a:cs typeface="Arial MT"/>
              </a:rPr>
              <a:t>a house or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flat. </a:t>
            </a:r>
            <a:r>
              <a:rPr sz="1400" spc="-5" dirty="0">
                <a:latin typeface="Arial MT"/>
                <a:cs typeface="Arial MT"/>
              </a:rPr>
              <a:t>Ratio </a:t>
            </a:r>
            <a:r>
              <a:rPr sz="1400" dirty="0">
                <a:latin typeface="Arial MT"/>
                <a:cs typeface="Arial MT"/>
              </a:rPr>
              <a:t>of </a:t>
            </a:r>
            <a:r>
              <a:rPr sz="1400" spc="-10" dirty="0">
                <a:latin typeface="Arial MT"/>
                <a:cs typeface="Arial MT"/>
              </a:rPr>
              <a:t>'Y' </a:t>
            </a:r>
            <a:r>
              <a:rPr sz="1400" dirty="0">
                <a:latin typeface="Arial MT"/>
                <a:cs typeface="Arial MT"/>
              </a:rPr>
              <a:t>and </a:t>
            </a:r>
            <a:r>
              <a:rPr sz="1400" spc="-5" dirty="0">
                <a:latin typeface="Arial MT"/>
                <a:cs typeface="Arial MT"/>
              </a:rPr>
              <a:t>'N' </a:t>
            </a:r>
            <a:r>
              <a:rPr sz="1400" dirty="0">
                <a:latin typeface="Arial MT"/>
                <a:cs typeface="Arial MT"/>
              </a:rPr>
              <a:t> flags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almost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same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both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groups.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Most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clients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own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house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flat.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49398" y="5294121"/>
            <a:ext cx="58419" cy="58419"/>
            <a:chOff x="2549398" y="5294121"/>
            <a:chExt cx="58419" cy="58419"/>
          </a:xfrm>
        </p:grpSpPr>
        <p:sp>
          <p:nvSpPr>
            <p:cNvPr id="12" name="object 12"/>
            <p:cNvSpPr/>
            <p:nvPr/>
          </p:nvSpPr>
          <p:spPr>
            <a:xfrm>
              <a:off x="2555748" y="530047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45719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45719" y="4571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5748" y="530047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45719"/>
                  </a:moveTo>
                  <a:lnTo>
                    <a:pt x="45719" y="45719"/>
                  </a:lnTo>
                  <a:lnTo>
                    <a:pt x="45719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488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4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Categorical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868" y="3713988"/>
            <a:ext cx="8949055" cy="2809240"/>
            <a:chOff x="86868" y="3713988"/>
            <a:chExt cx="8949055" cy="2809240"/>
          </a:xfrm>
        </p:grpSpPr>
        <p:sp>
          <p:nvSpPr>
            <p:cNvPr id="4" name="object 4"/>
            <p:cNvSpPr/>
            <p:nvPr/>
          </p:nvSpPr>
          <p:spPr>
            <a:xfrm>
              <a:off x="2555747" y="5300472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45719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45719" y="4571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5747" y="5300472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45719"/>
                  </a:moveTo>
                  <a:lnTo>
                    <a:pt x="45719" y="45719"/>
                  </a:lnTo>
                  <a:lnTo>
                    <a:pt x="45719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8" y="3713988"/>
              <a:ext cx="7293864" cy="28087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91327" y="3745992"/>
              <a:ext cx="3744595" cy="1385570"/>
            </a:xfrm>
            <a:custGeom>
              <a:avLst/>
              <a:gdLst/>
              <a:ahLst/>
              <a:cxnLst/>
              <a:rect l="l" t="t" r="r" b="b"/>
              <a:pathLst>
                <a:path w="3744595" h="1385570">
                  <a:moveTo>
                    <a:pt x="3744468" y="0"/>
                  </a:moveTo>
                  <a:lnTo>
                    <a:pt x="0" y="0"/>
                  </a:lnTo>
                  <a:lnTo>
                    <a:pt x="0" y="1385316"/>
                  </a:lnTo>
                  <a:lnTo>
                    <a:pt x="3744468" y="1385316"/>
                  </a:lnTo>
                  <a:lnTo>
                    <a:pt x="3744468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4168" y="774948"/>
            <a:ext cx="8902065" cy="2710180"/>
            <a:chOff x="134168" y="774948"/>
            <a:chExt cx="8902065" cy="27101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168" y="774948"/>
              <a:ext cx="8603754" cy="27096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28587" y="844296"/>
              <a:ext cx="2807335" cy="1201420"/>
            </a:xfrm>
            <a:custGeom>
              <a:avLst/>
              <a:gdLst/>
              <a:ahLst/>
              <a:cxnLst/>
              <a:rect l="l" t="t" r="r" b="b"/>
              <a:pathLst>
                <a:path w="2807334" h="1201420">
                  <a:moveTo>
                    <a:pt x="2807208" y="0"/>
                  </a:moveTo>
                  <a:lnTo>
                    <a:pt x="0" y="0"/>
                  </a:lnTo>
                  <a:lnTo>
                    <a:pt x="0" y="1200912"/>
                  </a:lnTo>
                  <a:lnTo>
                    <a:pt x="2807208" y="1200912"/>
                  </a:lnTo>
                  <a:lnTo>
                    <a:pt x="2807208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07963" y="868426"/>
            <a:ext cx="26047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200" dirty="0">
                <a:latin typeface="Calibri"/>
                <a:cs typeface="Calibri"/>
              </a:rPr>
              <a:t>This </a:t>
            </a:r>
            <a:r>
              <a:rPr sz="1200" spc="-5" dirty="0">
                <a:latin typeface="Calibri"/>
                <a:cs typeface="Calibri"/>
              </a:rPr>
              <a:t>variable denotes who </a:t>
            </a:r>
            <a:r>
              <a:rPr sz="1200" spc="-10" dirty="0">
                <a:latin typeface="Calibri"/>
                <a:cs typeface="Calibri"/>
              </a:rPr>
              <a:t>was </a:t>
            </a:r>
            <a:r>
              <a:rPr sz="1200" spc="-5" dirty="0">
                <a:latin typeface="Calibri"/>
                <a:cs typeface="Calibri"/>
              </a:rPr>
              <a:t> accompanying client when </a:t>
            </a:r>
            <a:r>
              <a:rPr sz="1200" dirty="0">
                <a:latin typeface="Calibri"/>
                <a:cs typeface="Calibri"/>
              </a:rPr>
              <a:t>he </a:t>
            </a:r>
            <a:r>
              <a:rPr sz="1200" spc="-10" dirty="0">
                <a:latin typeface="Calibri"/>
                <a:cs typeface="Calibri"/>
              </a:rPr>
              <a:t>was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applying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</a:t>
            </a:r>
            <a:r>
              <a:rPr sz="1200" spc="-25" dirty="0">
                <a:latin typeface="Calibri"/>
                <a:cs typeface="Calibri"/>
              </a:rPr>
              <a:t> Target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0 and </a:t>
            </a:r>
            <a:r>
              <a:rPr sz="1200" spc="-25" dirty="0">
                <a:latin typeface="Calibri"/>
                <a:cs typeface="Calibri"/>
              </a:rPr>
              <a:t>Target </a:t>
            </a:r>
            <a:r>
              <a:rPr sz="1200" dirty="0">
                <a:latin typeface="Calibri"/>
                <a:cs typeface="Calibri"/>
              </a:rPr>
              <a:t>1 the </a:t>
            </a:r>
            <a:r>
              <a:rPr sz="1200" spc="-5" dirty="0">
                <a:latin typeface="Calibri"/>
                <a:cs typeface="Calibri"/>
              </a:rPr>
              <a:t>distribution </a:t>
            </a:r>
            <a:r>
              <a:rPr sz="1200" dirty="0">
                <a:latin typeface="Calibri"/>
                <a:cs typeface="Calibri"/>
              </a:rPr>
              <a:t>is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almost same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came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alone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during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71591" y="3771138"/>
            <a:ext cx="3535679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200" dirty="0">
                <a:latin typeface="Calibri"/>
                <a:cs typeface="Calibri"/>
              </a:rPr>
              <a:t>Bank has </a:t>
            </a:r>
            <a:r>
              <a:rPr sz="1200" spc="-5" dirty="0">
                <a:latin typeface="Calibri"/>
                <a:cs typeface="Calibri"/>
              </a:rPr>
              <a:t>given most of </a:t>
            </a:r>
            <a:r>
              <a:rPr sz="1200" dirty="0">
                <a:latin typeface="Calibri"/>
                <a:cs typeface="Calibri"/>
              </a:rPr>
              <a:t>the loans </a:t>
            </a:r>
            <a:r>
              <a:rPr sz="1200" spc="-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the people </a:t>
            </a:r>
            <a:r>
              <a:rPr sz="1200" spc="-5" dirty="0">
                <a:latin typeface="Calibri"/>
                <a:cs typeface="Calibri"/>
              </a:rPr>
              <a:t>who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"Secondary/ Secondary </a:t>
            </a:r>
            <a:r>
              <a:rPr sz="1200" dirty="0">
                <a:latin typeface="Calibri"/>
                <a:cs typeface="Calibri"/>
              </a:rPr>
              <a:t>Special" </a:t>
            </a:r>
            <a:r>
              <a:rPr sz="1200" spc="-5" dirty="0">
                <a:latin typeface="Calibri"/>
                <a:cs typeface="Calibri"/>
              </a:rPr>
              <a:t>education.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 </a:t>
            </a:r>
            <a:r>
              <a:rPr sz="1200" spc="-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plots, if </a:t>
            </a:r>
            <a:r>
              <a:rPr sz="1200" spc="-10" dirty="0">
                <a:latin typeface="Calibri"/>
                <a:cs typeface="Calibri"/>
              </a:rPr>
              <a:t>we </a:t>
            </a:r>
            <a:r>
              <a:rPr sz="1200" spc="-5" dirty="0">
                <a:latin typeface="Calibri"/>
                <a:cs typeface="Calibri"/>
              </a:rPr>
              <a:t>compare, </a:t>
            </a:r>
            <a:r>
              <a:rPr sz="1200" spc="-10" dirty="0">
                <a:latin typeface="Calibri"/>
                <a:cs typeface="Calibri"/>
              </a:rPr>
              <a:t>we can </a:t>
            </a:r>
            <a:r>
              <a:rPr sz="1200" spc="-5" dirty="0">
                <a:latin typeface="Calibri"/>
                <a:cs typeface="Calibri"/>
              </a:rPr>
              <a:t>see </a:t>
            </a:r>
            <a:r>
              <a:rPr sz="1200" dirty="0">
                <a:latin typeface="Calibri"/>
                <a:cs typeface="Calibri"/>
              </a:rPr>
              <a:t>only 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clients having "Higher Education" are more </a:t>
            </a:r>
            <a:r>
              <a:rPr sz="1200" spc="-10" dirty="0">
                <a:latin typeface="Calibri"/>
                <a:cs typeface="Calibri"/>
              </a:rPr>
              <a:t>likely </a:t>
            </a:r>
            <a:r>
              <a:rPr sz="1200" spc="-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repay </a:t>
            </a:r>
            <a:r>
              <a:rPr sz="1200" dirty="0">
                <a:latin typeface="Calibri"/>
                <a:cs typeface="Calibri"/>
              </a:rPr>
              <a:t>the loans </a:t>
            </a:r>
            <a:r>
              <a:rPr sz="1200" spc="-5" dirty="0">
                <a:latin typeface="Calibri"/>
                <a:cs typeface="Calibri"/>
              </a:rPr>
              <a:t>better </a:t>
            </a:r>
            <a:r>
              <a:rPr sz="1200" dirty="0">
                <a:latin typeface="Calibri"/>
                <a:cs typeface="Calibri"/>
              </a:rPr>
              <a:t>than other </a:t>
            </a:r>
            <a:r>
              <a:rPr sz="1200" spc="-5" dirty="0">
                <a:latin typeface="Calibri"/>
                <a:cs typeface="Calibri"/>
              </a:rPr>
              <a:t>education groups.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Bank </a:t>
            </a:r>
            <a:r>
              <a:rPr sz="1200" spc="-5" dirty="0">
                <a:latin typeface="Calibri"/>
                <a:cs typeface="Calibri"/>
              </a:rPr>
              <a:t>should consider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education </a:t>
            </a:r>
            <a:r>
              <a:rPr sz="1200" dirty="0">
                <a:latin typeface="Calibri"/>
                <a:cs typeface="Calibri"/>
              </a:rPr>
              <a:t>as an </a:t>
            </a:r>
            <a:r>
              <a:rPr sz="1200" spc="-5" dirty="0">
                <a:latin typeface="Calibri"/>
                <a:cs typeface="Calibri"/>
              </a:rPr>
              <a:t>important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parameter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before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approving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23" y="3571008"/>
            <a:ext cx="7609100" cy="284627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2991" y="653638"/>
            <a:ext cx="8883015" cy="2684145"/>
            <a:chOff x="152991" y="653638"/>
            <a:chExt cx="8883015" cy="26841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991" y="653638"/>
              <a:ext cx="6826940" cy="26368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11924" y="844296"/>
              <a:ext cx="2024380" cy="2493645"/>
            </a:xfrm>
            <a:custGeom>
              <a:avLst/>
              <a:gdLst/>
              <a:ahLst/>
              <a:cxnLst/>
              <a:rect l="l" t="t" r="r" b="b"/>
              <a:pathLst>
                <a:path w="2024379" h="2493645">
                  <a:moveTo>
                    <a:pt x="2023872" y="0"/>
                  </a:moveTo>
                  <a:lnTo>
                    <a:pt x="0" y="0"/>
                  </a:lnTo>
                  <a:lnTo>
                    <a:pt x="0" y="2493264"/>
                  </a:lnTo>
                  <a:lnTo>
                    <a:pt x="2023872" y="2493264"/>
                  </a:lnTo>
                  <a:lnTo>
                    <a:pt x="2023872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488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4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Categorical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49398" y="5294121"/>
            <a:ext cx="58419" cy="58419"/>
            <a:chOff x="2549398" y="5294121"/>
            <a:chExt cx="58419" cy="58419"/>
          </a:xfrm>
        </p:grpSpPr>
        <p:sp>
          <p:nvSpPr>
            <p:cNvPr id="8" name="object 8"/>
            <p:cNvSpPr/>
            <p:nvPr/>
          </p:nvSpPr>
          <p:spPr>
            <a:xfrm>
              <a:off x="2555748" y="530047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45719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45719" y="4571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748" y="530047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45719"/>
                  </a:moveTo>
                  <a:lnTo>
                    <a:pt x="45719" y="45719"/>
                  </a:lnTo>
                  <a:lnTo>
                    <a:pt x="45719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091298" y="868426"/>
            <a:ext cx="1757680" cy="240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clients are </a:t>
            </a:r>
            <a:r>
              <a:rPr sz="1200" dirty="0">
                <a:latin typeface="Calibri"/>
                <a:cs typeface="Calibri"/>
              </a:rPr>
              <a:t> "Married" and </a:t>
            </a:r>
            <a:r>
              <a:rPr sz="1200" spc="-5" dirty="0">
                <a:latin typeface="Calibri"/>
                <a:cs typeface="Calibri"/>
              </a:rPr>
              <a:t>they are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less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likely</a:t>
            </a:r>
            <a:r>
              <a:rPr sz="1200" spc="-5" dirty="0">
                <a:latin typeface="Calibri"/>
                <a:cs typeface="Calibri"/>
              </a:rPr>
              <a:t> 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face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 </a:t>
            </a:r>
            <a:r>
              <a:rPr sz="1200" dirty="0">
                <a:latin typeface="Calibri"/>
                <a:cs typeface="Calibri"/>
              </a:rPr>
              <a:t>in 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repayment. Where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Single, </a:t>
            </a:r>
            <a:r>
              <a:rPr sz="1200" dirty="0">
                <a:latin typeface="Calibri"/>
                <a:cs typeface="Calibri"/>
              </a:rPr>
              <a:t>Window and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 </a:t>
            </a:r>
            <a:r>
              <a:rPr sz="1200" spc="-5" dirty="0">
                <a:latin typeface="Calibri"/>
                <a:cs typeface="Calibri"/>
              </a:rPr>
              <a:t>groups are more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likely </a:t>
            </a:r>
            <a:r>
              <a:rPr sz="1200" spc="-5" dirty="0">
                <a:latin typeface="Calibri"/>
                <a:cs typeface="Calibri"/>
              </a:rPr>
              <a:t>to default on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loan. The </a:t>
            </a:r>
            <a:r>
              <a:rPr sz="1200" spc="-5" dirty="0">
                <a:latin typeface="Calibri"/>
                <a:cs typeface="Calibri"/>
              </a:rPr>
              <a:t>reason could </a:t>
            </a:r>
            <a:r>
              <a:rPr sz="1200" dirty="0">
                <a:latin typeface="Calibri"/>
                <a:cs typeface="Calibri"/>
              </a:rPr>
              <a:t> be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Married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people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may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 </a:t>
            </a:r>
            <a:r>
              <a:rPr sz="1200" spc="-5" dirty="0">
                <a:latin typeface="Calibri"/>
                <a:cs typeface="Calibri"/>
              </a:rPr>
              <a:t>more </a:t>
            </a:r>
            <a:r>
              <a:rPr sz="1200" dirty="0">
                <a:latin typeface="Calibri"/>
                <a:cs typeface="Calibri"/>
              </a:rPr>
              <a:t>financial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planning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5" dirty="0">
                <a:latin typeface="Calibri"/>
                <a:cs typeface="Calibri"/>
              </a:rPr>
              <a:t>compare to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single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peoples.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47916" y="4148328"/>
            <a:ext cx="2087880" cy="1016635"/>
          </a:xfrm>
          <a:custGeom>
            <a:avLst/>
            <a:gdLst/>
            <a:ahLst/>
            <a:cxnLst/>
            <a:rect l="l" t="t" r="r" b="b"/>
            <a:pathLst>
              <a:path w="2087879" h="1016635">
                <a:moveTo>
                  <a:pt x="2087879" y="0"/>
                </a:moveTo>
                <a:lnTo>
                  <a:pt x="0" y="0"/>
                </a:lnTo>
                <a:lnTo>
                  <a:pt x="0" y="1016508"/>
                </a:lnTo>
                <a:lnTo>
                  <a:pt x="2087879" y="1016508"/>
                </a:lnTo>
                <a:lnTo>
                  <a:pt x="2087879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28180" y="4173728"/>
            <a:ext cx="17945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200" spc="-5" dirty="0">
                <a:latin typeface="Calibri"/>
                <a:cs typeface="Calibri"/>
              </a:rPr>
              <a:t>Here, </a:t>
            </a:r>
            <a:r>
              <a:rPr sz="1200" spc="-10" dirty="0">
                <a:latin typeface="Calibri"/>
                <a:cs typeface="Calibri"/>
              </a:rPr>
              <a:t>we can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living </a:t>
            </a:r>
            <a:r>
              <a:rPr sz="1200" spc="-5" dirty="0">
                <a:latin typeface="Calibri"/>
                <a:cs typeface="Calibri"/>
              </a:rPr>
              <a:t>with </a:t>
            </a:r>
            <a:r>
              <a:rPr sz="1200" dirty="0">
                <a:latin typeface="Calibri"/>
                <a:cs typeface="Calibri"/>
              </a:rPr>
              <a:t>their </a:t>
            </a:r>
            <a:r>
              <a:rPr sz="1200" spc="-5" dirty="0">
                <a:latin typeface="Calibri"/>
                <a:cs typeface="Calibri"/>
              </a:rPr>
              <a:t>parents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 more </a:t>
            </a:r>
            <a:r>
              <a:rPr sz="1200" spc="-10" dirty="0">
                <a:latin typeface="Calibri"/>
                <a:cs typeface="Calibri"/>
              </a:rPr>
              <a:t>likely </a:t>
            </a:r>
            <a:r>
              <a:rPr sz="1200" spc="-5" dirty="0">
                <a:latin typeface="Calibri"/>
                <a:cs typeface="Calibri"/>
              </a:rPr>
              <a:t>to face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 </a:t>
            </a:r>
            <a:r>
              <a:rPr sz="1200" dirty="0">
                <a:latin typeface="Calibri"/>
                <a:cs typeface="Calibri"/>
              </a:rPr>
              <a:t>in 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repayment.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488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4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Categorical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49398" y="5279135"/>
            <a:ext cx="6486525" cy="1199515"/>
            <a:chOff x="2549398" y="5279135"/>
            <a:chExt cx="6486525" cy="1199515"/>
          </a:xfrm>
        </p:grpSpPr>
        <p:sp>
          <p:nvSpPr>
            <p:cNvPr id="4" name="object 4"/>
            <p:cNvSpPr/>
            <p:nvPr/>
          </p:nvSpPr>
          <p:spPr>
            <a:xfrm>
              <a:off x="2555748" y="530047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45719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45719" y="4571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5748" y="530047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45719"/>
                  </a:moveTo>
                  <a:lnTo>
                    <a:pt x="45719" y="45719"/>
                  </a:lnTo>
                  <a:lnTo>
                    <a:pt x="45719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43472" y="5279135"/>
              <a:ext cx="2592705" cy="1199515"/>
            </a:xfrm>
            <a:custGeom>
              <a:avLst/>
              <a:gdLst/>
              <a:ahLst/>
              <a:cxnLst/>
              <a:rect l="l" t="t" r="r" b="b"/>
              <a:pathLst>
                <a:path w="2592704" h="1199514">
                  <a:moveTo>
                    <a:pt x="2592324" y="0"/>
                  </a:moveTo>
                  <a:lnTo>
                    <a:pt x="0" y="0"/>
                  </a:lnTo>
                  <a:lnTo>
                    <a:pt x="0" y="1199388"/>
                  </a:lnTo>
                  <a:lnTo>
                    <a:pt x="2592324" y="1199388"/>
                  </a:lnTo>
                  <a:lnTo>
                    <a:pt x="2592324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947916" y="944880"/>
            <a:ext cx="2087880" cy="4251960"/>
          </a:xfrm>
          <a:custGeom>
            <a:avLst/>
            <a:gdLst/>
            <a:ahLst/>
            <a:cxnLst/>
            <a:rect l="l" t="t" r="r" b="b"/>
            <a:pathLst>
              <a:path w="2087879" h="4251960">
                <a:moveTo>
                  <a:pt x="2087879" y="0"/>
                </a:moveTo>
                <a:lnTo>
                  <a:pt x="0" y="0"/>
                </a:lnTo>
                <a:lnTo>
                  <a:pt x="0" y="4251960"/>
                </a:lnTo>
                <a:lnTo>
                  <a:pt x="2087879" y="4251960"/>
                </a:lnTo>
                <a:lnTo>
                  <a:pt x="2087879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23990" y="968755"/>
            <a:ext cx="2407920" cy="545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327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803275" algn="l"/>
                <a:tab pos="803910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spc="-15" dirty="0">
                <a:latin typeface="Calibri"/>
                <a:cs typeface="Calibri"/>
              </a:rPr>
              <a:t>taken 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 </a:t>
            </a:r>
            <a:r>
              <a:rPr sz="1200" spc="-5" dirty="0">
                <a:latin typeface="Calibri"/>
                <a:cs typeface="Calibri"/>
              </a:rPr>
              <a:t>are of working class.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Also, they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dirty="0">
                <a:latin typeface="Calibri"/>
                <a:cs typeface="Calibri"/>
              </a:rPr>
              <a:t>bit higher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chance of failing to </a:t>
            </a:r>
            <a:r>
              <a:rPr sz="1200" spc="-10" dirty="0">
                <a:latin typeface="Calibri"/>
                <a:cs typeface="Calibri"/>
              </a:rPr>
              <a:t>repay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loan. As </a:t>
            </a:r>
            <a:r>
              <a:rPr sz="1200" spc="-5" dirty="0">
                <a:latin typeface="Calibri"/>
                <a:cs typeface="Calibri"/>
              </a:rPr>
              <a:t>61.3%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clients with payment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 are of working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class,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where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it's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lesser,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50.8%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Target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0.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"/>
            </a:pPr>
            <a:endParaRPr sz="1150">
              <a:latin typeface="Calibri"/>
              <a:cs typeface="Calibri"/>
            </a:endParaRPr>
          </a:p>
          <a:p>
            <a:pPr marL="803275" marR="15240" indent="-287020">
              <a:lnSpc>
                <a:spcPct val="100000"/>
              </a:lnSpc>
              <a:buFont typeface="Wingdings"/>
              <a:buChar char=""/>
              <a:tabLst>
                <a:tab pos="803275" algn="l"/>
                <a:tab pos="803910" algn="l"/>
              </a:tabLst>
            </a:pPr>
            <a:r>
              <a:rPr sz="1200" spc="-5" dirty="0">
                <a:latin typeface="Calibri"/>
                <a:cs typeface="Calibri"/>
              </a:rPr>
              <a:t>Pensioners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more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likely </a:t>
            </a:r>
            <a:r>
              <a:rPr sz="1200" spc="-5" dirty="0">
                <a:latin typeface="Calibri"/>
                <a:cs typeface="Calibri"/>
              </a:rPr>
              <a:t>to </a:t>
            </a:r>
            <a:r>
              <a:rPr sz="1200" spc="-10" dirty="0">
                <a:latin typeface="Calibri"/>
                <a:cs typeface="Calibri"/>
              </a:rPr>
              <a:t>repay </a:t>
            </a:r>
            <a:r>
              <a:rPr sz="1200" dirty="0">
                <a:latin typeface="Calibri"/>
                <a:cs typeface="Calibri"/>
              </a:rPr>
              <a:t>the loan in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compare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income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classes.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reason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could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pensioners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have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fixed </a:t>
            </a:r>
            <a:r>
              <a:rPr sz="1200" spc="-5" dirty="0">
                <a:latin typeface="Calibri"/>
                <a:cs typeface="Calibri"/>
              </a:rPr>
              <a:t>stable income,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they </a:t>
            </a:r>
            <a:r>
              <a:rPr sz="1200" spc="-10" dirty="0">
                <a:latin typeface="Calibri"/>
                <a:cs typeface="Calibri"/>
              </a:rPr>
              <a:t>may </a:t>
            </a:r>
            <a:r>
              <a:rPr sz="1200" spc="-15" dirty="0">
                <a:latin typeface="Calibri"/>
                <a:cs typeface="Calibri"/>
              </a:rPr>
              <a:t>take </a:t>
            </a:r>
            <a:r>
              <a:rPr sz="1200" dirty="0">
                <a:latin typeface="Calibri"/>
                <a:cs typeface="Calibri"/>
              </a:rPr>
              <a:t>loan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calculated amount, so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that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monthly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installment </a:t>
            </a:r>
            <a:r>
              <a:rPr sz="1200" spc="-10" dirty="0">
                <a:latin typeface="Calibri"/>
                <a:cs typeface="Calibri"/>
              </a:rPr>
              <a:t>can </a:t>
            </a:r>
            <a:r>
              <a:rPr sz="1200" dirty="0">
                <a:latin typeface="Calibri"/>
                <a:cs typeface="Calibri"/>
              </a:rPr>
              <a:t>be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covered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using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pension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income.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 marL="299085" marR="33020" indent="-287020">
              <a:lnSpc>
                <a:spcPct val="100000"/>
              </a:lnSpc>
              <a:spcBef>
                <a:spcPts val="99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clients are Laborers </a:t>
            </a:r>
            <a:r>
              <a:rPr sz="1200" dirty="0">
                <a:latin typeface="Calibri"/>
                <a:cs typeface="Calibri"/>
              </a:rPr>
              <a:t> and </a:t>
            </a:r>
            <a:r>
              <a:rPr sz="1200" spc="-5" dirty="0">
                <a:latin typeface="Calibri"/>
                <a:cs typeface="Calibri"/>
              </a:rPr>
              <a:t>they are facing more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5" dirty="0">
                <a:latin typeface="Calibri"/>
                <a:cs typeface="Calibri"/>
              </a:rPr>
              <a:t>repaying </a:t>
            </a:r>
            <a:r>
              <a:rPr sz="1200" dirty="0">
                <a:latin typeface="Calibri"/>
                <a:cs typeface="Calibri"/>
              </a:rPr>
              <a:t>the loan in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compare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Managers,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Accountants, Core </a:t>
            </a:r>
            <a:r>
              <a:rPr sz="1200" spc="-20" dirty="0">
                <a:latin typeface="Calibri"/>
                <a:cs typeface="Calibri"/>
              </a:rPr>
              <a:t>Staff, </a:t>
            </a:r>
            <a:r>
              <a:rPr sz="1200" spc="-5" dirty="0">
                <a:latin typeface="Calibri"/>
                <a:cs typeface="Calibri"/>
              </a:rPr>
              <a:t>High Skill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tech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Staff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etc.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paying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jobs.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3592067"/>
            <a:ext cx="6265164" cy="29687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576" y="714936"/>
            <a:ext cx="6763644" cy="25294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898"/>
            <a:ext cx="7488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4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7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Categorical</a:t>
            </a:r>
            <a:r>
              <a:rPr sz="3000" spc="250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6240" y="1053083"/>
            <a:ext cx="8639810" cy="5140960"/>
            <a:chOff x="396240" y="1053083"/>
            <a:chExt cx="8639810" cy="5140960"/>
          </a:xfrm>
        </p:grpSpPr>
        <p:sp>
          <p:nvSpPr>
            <p:cNvPr id="4" name="object 4"/>
            <p:cNvSpPr/>
            <p:nvPr/>
          </p:nvSpPr>
          <p:spPr>
            <a:xfrm>
              <a:off x="2555747" y="5300472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45719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45719" y="4571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5747" y="5300472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45719"/>
                  </a:moveTo>
                  <a:lnTo>
                    <a:pt x="45719" y="45719"/>
                  </a:lnTo>
                  <a:lnTo>
                    <a:pt x="45719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" y="1053083"/>
              <a:ext cx="8125968" cy="51404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43472" y="1181099"/>
              <a:ext cx="2592705" cy="1015365"/>
            </a:xfrm>
            <a:custGeom>
              <a:avLst/>
              <a:gdLst/>
              <a:ahLst/>
              <a:cxnLst/>
              <a:rect l="l" t="t" r="r" b="b"/>
              <a:pathLst>
                <a:path w="2592704" h="1015364">
                  <a:moveTo>
                    <a:pt x="2592324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2592324" y="1014984"/>
                  </a:lnTo>
                  <a:lnTo>
                    <a:pt x="2592324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23990" y="1204671"/>
            <a:ext cx="23488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200" spc="-5" dirty="0">
                <a:latin typeface="Calibri"/>
                <a:cs typeface="Calibri"/>
              </a:rPr>
              <a:t>Most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clients</a:t>
            </a:r>
            <a:r>
              <a:rPr sz="1200" spc="-10" dirty="0">
                <a:latin typeface="Calibri"/>
                <a:cs typeface="Calibri"/>
              </a:rPr>
              <a:t> works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'Business Entity </a:t>
            </a:r>
            <a:r>
              <a:rPr sz="1200" spc="-15" dirty="0">
                <a:latin typeface="Calibri"/>
                <a:cs typeface="Calibri"/>
              </a:rPr>
              <a:t>Type </a:t>
            </a:r>
            <a:r>
              <a:rPr sz="1200" dirty="0">
                <a:latin typeface="Calibri"/>
                <a:cs typeface="Calibri"/>
              </a:rPr>
              <a:t>3'. </a:t>
            </a:r>
            <a:r>
              <a:rPr sz="1200" spc="-5" dirty="0">
                <a:latin typeface="Calibri"/>
                <a:cs typeface="Calibri"/>
              </a:rPr>
              <a:t>They are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 the </a:t>
            </a:r>
            <a:r>
              <a:rPr sz="1200" spc="-5" dirty="0">
                <a:latin typeface="Calibri"/>
                <a:cs typeface="Calibri"/>
              </a:rPr>
              <a:t>highest </a:t>
            </a:r>
            <a:r>
              <a:rPr sz="1200" dirty="0">
                <a:latin typeface="Calibri"/>
                <a:cs typeface="Calibri"/>
              </a:rPr>
              <a:t>in number </a:t>
            </a:r>
            <a:r>
              <a:rPr sz="1200" spc="-5" dirty="0">
                <a:latin typeface="Calibri"/>
                <a:cs typeface="Calibri"/>
              </a:rPr>
              <a:t>who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 facing difficulties </a:t>
            </a:r>
            <a:r>
              <a:rPr sz="1200" dirty="0">
                <a:latin typeface="Calibri"/>
                <a:cs typeface="Calibri"/>
              </a:rPr>
              <a:t>in 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repayment.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543" y="390524"/>
            <a:ext cx="744029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5" dirty="0">
                <a:latin typeface="Bahnschrift"/>
                <a:cs typeface="Bahnschrift"/>
              </a:rPr>
              <a:t>Correlation</a:t>
            </a:r>
            <a:r>
              <a:rPr sz="3100" spc="320" dirty="0">
                <a:latin typeface="Bahnschrift"/>
                <a:cs typeface="Bahnschrift"/>
              </a:rPr>
              <a:t> </a:t>
            </a:r>
            <a:r>
              <a:rPr sz="3100" spc="-10" dirty="0">
                <a:latin typeface="Bahnschrift"/>
                <a:cs typeface="Bahnschrift"/>
              </a:rPr>
              <a:t>Analysis</a:t>
            </a:r>
            <a:r>
              <a:rPr sz="3100" spc="335" dirty="0">
                <a:latin typeface="Bahnschrift"/>
                <a:cs typeface="Bahnschrift"/>
              </a:rPr>
              <a:t> </a:t>
            </a:r>
            <a:r>
              <a:rPr sz="3100" spc="-5" dirty="0">
                <a:latin typeface="Bahnschrift"/>
                <a:cs typeface="Bahnschrift"/>
              </a:rPr>
              <a:t>of</a:t>
            </a:r>
            <a:r>
              <a:rPr sz="3100" spc="315" dirty="0">
                <a:latin typeface="Bahnschrift"/>
                <a:cs typeface="Bahnschrift"/>
              </a:rPr>
              <a:t> </a:t>
            </a:r>
            <a:r>
              <a:rPr sz="3100" spc="-10" dirty="0">
                <a:latin typeface="Bahnschrift"/>
                <a:cs typeface="Bahnschrift"/>
              </a:rPr>
              <a:t>Numeric</a:t>
            </a:r>
            <a:r>
              <a:rPr sz="3100" spc="325" dirty="0">
                <a:latin typeface="Bahnschrift"/>
                <a:cs typeface="Bahnschrift"/>
              </a:rPr>
              <a:t> </a:t>
            </a:r>
            <a:r>
              <a:rPr sz="3100" spc="-5" dirty="0">
                <a:latin typeface="Bahnschrift"/>
                <a:cs typeface="Bahnschrift"/>
              </a:rPr>
              <a:t>Variables</a:t>
            </a:r>
            <a:endParaRPr sz="31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2531186"/>
            <a:ext cx="2771140" cy="1685289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84785" marR="5080" indent="-172720">
              <a:lnSpc>
                <a:spcPct val="90000"/>
              </a:lnSpc>
              <a:spcBef>
                <a:spcPts val="310"/>
              </a:spcBef>
              <a:buSzPct val="94117"/>
              <a:buFont typeface="Wingdings"/>
              <a:buChar char=""/>
              <a:tabLst>
                <a:tab pos="186055" algn="l"/>
              </a:tabLst>
            </a:pPr>
            <a:r>
              <a:rPr sz="1700" spc="-55" dirty="0">
                <a:latin typeface="Calibri"/>
                <a:cs typeface="Calibri"/>
              </a:rPr>
              <a:t>Top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10 </a:t>
            </a:r>
            <a:r>
              <a:rPr sz="1700" spc="-10" dirty="0">
                <a:latin typeface="Calibri"/>
                <a:cs typeface="Calibri"/>
              </a:rPr>
              <a:t>correlated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variable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for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client with </a:t>
            </a:r>
            <a:r>
              <a:rPr sz="1700" spc="-10" dirty="0">
                <a:latin typeface="Calibri"/>
                <a:cs typeface="Calibri"/>
              </a:rPr>
              <a:t>payment </a:t>
            </a:r>
            <a:r>
              <a:rPr sz="1700" spc="-5" dirty="0">
                <a:latin typeface="Calibri"/>
                <a:cs typeface="Calibri"/>
              </a:rPr>
              <a:t> difficulties (1) </a:t>
            </a:r>
            <a:r>
              <a:rPr sz="1700" dirty="0">
                <a:latin typeface="Calibri"/>
                <a:cs typeface="Calibri"/>
              </a:rPr>
              <a:t>and other </a:t>
            </a:r>
            <a:r>
              <a:rPr sz="1700" spc="-5" dirty="0">
                <a:latin typeface="Calibri"/>
                <a:cs typeface="Calibri"/>
              </a:rPr>
              <a:t>(0) </a:t>
            </a:r>
            <a:r>
              <a:rPr sz="1700" dirty="0">
                <a:latin typeface="Calibri"/>
                <a:cs typeface="Calibri"/>
              </a:rPr>
              <a:t> both </a:t>
            </a:r>
            <a:r>
              <a:rPr sz="1700" spc="-5" dirty="0">
                <a:latin typeface="Calibri"/>
                <a:cs typeface="Calibri"/>
              </a:rPr>
              <a:t>are same. </a:t>
            </a:r>
            <a:r>
              <a:rPr sz="1700" spc="-10" dirty="0">
                <a:latin typeface="Calibri"/>
                <a:cs typeface="Calibri"/>
              </a:rPr>
              <a:t>Pearson </a:t>
            </a:r>
            <a:r>
              <a:rPr sz="1700" spc="-5" dirty="0">
                <a:latin typeface="Calibri"/>
                <a:cs typeface="Calibri"/>
              </a:rPr>
              <a:t> correlation </a:t>
            </a:r>
            <a:r>
              <a:rPr sz="1700" spc="-10" dirty="0">
                <a:latin typeface="Calibri"/>
                <a:cs typeface="Calibri"/>
              </a:rPr>
              <a:t>coefficient </a:t>
            </a:r>
            <a:r>
              <a:rPr sz="1700" spc="-5" dirty="0">
                <a:latin typeface="Calibri"/>
                <a:cs typeface="Calibri"/>
              </a:rPr>
              <a:t>values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of </a:t>
            </a:r>
            <a:r>
              <a:rPr sz="1700" dirty="0">
                <a:latin typeface="Calibri"/>
                <a:cs typeface="Calibri"/>
              </a:rPr>
              <a:t>those </a:t>
            </a:r>
            <a:r>
              <a:rPr sz="1700" spc="-5" dirty="0">
                <a:latin typeface="Calibri"/>
                <a:cs typeface="Calibri"/>
              </a:rPr>
              <a:t>variables are </a:t>
            </a:r>
            <a:r>
              <a:rPr sz="1700" dirty="0">
                <a:latin typeface="Calibri"/>
                <a:cs typeface="Calibri"/>
              </a:rPr>
              <a:t>also 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almost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same.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86784" y="0"/>
            <a:ext cx="5157470" cy="3576954"/>
            <a:chOff x="3986784" y="0"/>
            <a:chExt cx="5157470" cy="3576954"/>
          </a:xfrm>
        </p:grpSpPr>
        <p:sp>
          <p:nvSpPr>
            <p:cNvPr id="5" name="object 5"/>
            <p:cNvSpPr/>
            <p:nvPr/>
          </p:nvSpPr>
          <p:spPr>
            <a:xfrm>
              <a:off x="8370824" y="0"/>
              <a:ext cx="773430" cy="1935480"/>
            </a:xfrm>
            <a:custGeom>
              <a:avLst/>
              <a:gdLst/>
              <a:ahLst/>
              <a:cxnLst/>
              <a:rect l="l" t="t" r="r" b="b"/>
              <a:pathLst>
                <a:path w="773429" h="1935480">
                  <a:moveTo>
                    <a:pt x="773176" y="0"/>
                  </a:moveTo>
                  <a:lnTo>
                    <a:pt x="43180" y="967740"/>
                  </a:lnTo>
                  <a:lnTo>
                    <a:pt x="158051" y="1120025"/>
                  </a:lnTo>
                  <a:lnTo>
                    <a:pt x="0" y="1278001"/>
                  </a:lnTo>
                  <a:lnTo>
                    <a:pt x="348742" y="1626616"/>
                  </a:lnTo>
                  <a:lnTo>
                    <a:pt x="457860" y="1517497"/>
                  </a:lnTo>
                  <a:lnTo>
                    <a:pt x="773176" y="1935480"/>
                  </a:lnTo>
                  <a:lnTo>
                    <a:pt x="773176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6784" y="1516380"/>
              <a:ext cx="4689348" cy="206044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0" y="4600955"/>
            <a:ext cx="803910" cy="2018030"/>
          </a:xfrm>
          <a:custGeom>
            <a:avLst/>
            <a:gdLst/>
            <a:ahLst/>
            <a:cxnLst/>
            <a:rect l="l" t="t" r="r" b="b"/>
            <a:pathLst>
              <a:path w="803910" h="2018029">
                <a:moveTo>
                  <a:pt x="803465" y="1413459"/>
                </a:moveTo>
                <a:lnTo>
                  <a:pt x="605066" y="1215072"/>
                </a:lnTo>
                <a:lnTo>
                  <a:pt x="760476" y="1008888"/>
                </a:lnTo>
                <a:lnTo>
                  <a:pt x="0" y="0"/>
                </a:lnTo>
                <a:lnTo>
                  <a:pt x="0" y="2017776"/>
                </a:lnTo>
                <a:lnTo>
                  <a:pt x="383692" y="1508734"/>
                </a:lnTo>
                <a:lnTo>
                  <a:pt x="545947" y="1670977"/>
                </a:lnTo>
                <a:lnTo>
                  <a:pt x="803465" y="1413459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1544" y="4123587"/>
            <a:ext cx="4648316" cy="190478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64635" y="3852671"/>
            <a:ext cx="1248410" cy="3708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7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sz="1800" spc="-25" dirty="0">
                <a:latin typeface="Calibri"/>
                <a:cs typeface="Calibri"/>
              </a:rPr>
              <a:t>TARGET=1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2923" y="1301496"/>
            <a:ext cx="1248410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latin typeface="Calibri"/>
                <a:cs typeface="Calibri"/>
              </a:rPr>
              <a:t>TARGET=0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3445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6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8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089" y="864270"/>
            <a:ext cx="5632393" cy="56339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76288" y="2161032"/>
            <a:ext cx="1945005" cy="341566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075" marR="25463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Bivariate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analysis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Numerical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variables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clients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payment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difficulties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(TARGET=1).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92075" marR="139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Combined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observations are </a:t>
            </a:r>
            <a:r>
              <a:rPr sz="1800" spc="-5" dirty="0">
                <a:latin typeface="Calibri"/>
                <a:cs typeface="Calibri"/>
              </a:rPr>
              <a:t> mentioned in </a:t>
            </a:r>
            <a:r>
              <a:rPr sz="1800" spc="-10" dirty="0">
                <a:latin typeface="Calibri"/>
                <a:cs typeface="Calibri"/>
              </a:rPr>
              <a:t>next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slide.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3471" y="890016"/>
            <a:ext cx="1225550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latin typeface="Calibri"/>
                <a:cs typeface="Calibri"/>
              </a:rPr>
              <a:t>TARGET=1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3445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6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8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130" y="935477"/>
            <a:ext cx="5684635" cy="57063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28588" y="1629155"/>
            <a:ext cx="2592705" cy="477012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3020" rIns="0" bIns="0" rtlCol="0">
            <a:spAutoFit/>
          </a:bodyPr>
          <a:lstStyle/>
          <a:p>
            <a:pPr marL="378460" marR="154940" indent="-287020">
              <a:lnSpc>
                <a:spcPct val="100000"/>
              </a:lnSpc>
              <a:spcBef>
                <a:spcPts val="260"/>
              </a:spcBef>
              <a:buFont typeface="Wingdings"/>
              <a:buChar char=""/>
              <a:tabLst>
                <a:tab pos="379095" algn="l"/>
              </a:tabLst>
            </a:pP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strong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positive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linear </a:t>
            </a:r>
            <a:r>
              <a:rPr sz="1600" spc="-10" dirty="0">
                <a:latin typeface="Calibri"/>
                <a:cs typeface="Calibri"/>
              </a:rPr>
              <a:t>relation between </a:t>
            </a:r>
            <a:r>
              <a:rPr sz="1600" spc="-5" dirty="0">
                <a:latin typeface="Calibri"/>
                <a:cs typeface="Calibri"/>
              </a:rPr>
              <a:t> AMT_GOODS_PRICE and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AMT_CREDIT.</a:t>
            </a:r>
            <a:endParaRPr sz="1600">
              <a:latin typeface="Calibri"/>
              <a:cs typeface="Calibri"/>
            </a:endParaRPr>
          </a:p>
          <a:p>
            <a:pPr marL="378460" marR="154940" indent="-287020">
              <a:lnSpc>
                <a:spcPct val="100000"/>
              </a:lnSpc>
              <a:buFont typeface="Wingdings"/>
              <a:buChar char=""/>
              <a:tabLst>
                <a:tab pos="379095" algn="l"/>
              </a:tabLst>
            </a:pP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strong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positive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linear </a:t>
            </a:r>
            <a:r>
              <a:rPr sz="1600" spc="-10" dirty="0">
                <a:latin typeface="Calibri"/>
                <a:cs typeface="Calibri"/>
              </a:rPr>
              <a:t>relation between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CNT_CHILDREN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CNT_FAM_MEMBER.</a:t>
            </a:r>
            <a:endParaRPr sz="1600">
              <a:latin typeface="Calibri"/>
              <a:cs typeface="Calibri"/>
            </a:endParaRPr>
          </a:p>
          <a:p>
            <a:pPr marL="378460" marR="242570" indent="-287020">
              <a:lnSpc>
                <a:spcPct val="100000"/>
              </a:lnSpc>
              <a:buFont typeface="Wingdings"/>
              <a:buChar char=""/>
              <a:tabLst>
                <a:tab pos="379095" algn="l"/>
              </a:tabLst>
            </a:pP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weak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positive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linear </a:t>
            </a:r>
            <a:r>
              <a:rPr sz="1600" spc="-10" dirty="0">
                <a:latin typeface="Calibri"/>
                <a:cs typeface="Calibri"/>
              </a:rPr>
              <a:t>relation between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AMT_ANNUITY and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AMT_GOOD_PRICE.</a:t>
            </a:r>
            <a:endParaRPr sz="1600">
              <a:latin typeface="Calibri"/>
              <a:cs typeface="Calibri"/>
            </a:endParaRPr>
          </a:p>
          <a:p>
            <a:pPr marL="378460" marR="242570" indent="-2870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79095" algn="l"/>
              </a:tabLst>
            </a:pPr>
            <a:r>
              <a:rPr sz="1600" spc="-10" dirty="0">
                <a:latin typeface="Calibri"/>
                <a:cs typeface="Calibri"/>
              </a:rPr>
              <a:t>There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weak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positive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linear </a:t>
            </a:r>
            <a:r>
              <a:rPr sz="1600" spc="-10" dirty="0">
                <a:latin typeface="Calibri"/>
                <a:cs typeface="Calibri"/>
              </a:rPr>
              <a:t>relation between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AMT_CREDIT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AMT_ANNUITY.</a:t>
            </a:r>
            <a:endParaRPr sz="1600">
              <a:latin typeface="Calibri"/>
              <a:cs typeface="Calibri"/>
            </a:endParaRPr>
          </a:p>
          <a:p>
            <a:pPr marL="378460" marR="266065" indent="-287020">
              <a:lnSpc>
                <a:spcPct val="100000"/>
              </a:lnSpc>
              <a:buFont typeface="Wingdings"/>
              <a:buChar char=""/>
              <a:tabLst>
                <a:tab pos="379095" algn="l"/>
              </a:tabLst>
            </a:pPr>
            <a:r>
              <a:rPr sz="1600" spc="-10" dirty="0">
                <a:latin typeface="Calibri"/>
                <a:cs typeface="Calibri"/>
              </a:rPr>
              <a:t>Outliers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already </a:t>
            </a:r>
            <a:r>
              <a:rPr sz="1600" spc="-5" dirty="0">
                <a:latin typeface="Calibri"/>
                <a:cs typeface="Calibri"/>
              </a:rPr>
              <a:t> identified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Boxplot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earlier.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7400" y="723900"/>
            <a:ext cx="1225550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latin typeface="Calibri"/>
                <a:cs typeface="Calibri"/>
              </a:rPr>
              <a:t>TARGET=0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6563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6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75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662" y="983107"/>
            <a:ext cx="8671560" cy="2479675"/>
            <a:chOff x="364662" y="983107"/>
            <a:chExt cx="8671560" cy="24796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662" y="983107"/>
              <a:ext cx="6337149" cy="24792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59879" y="1129284"/>
              <a:ext cx="2376170" cy="1754505"/>
            </a:xfrm>
            <a:custGeom>
              <a:avLst/>
              <a:gdLst/>
              <a:ahLst/>
              <a:cxnLst/>
              <a:rect l="l" t="t" r="r" b="b"/>
              <a:pathLst>
                <a:path w="2376170" h="1754505">
                  <a:moveTo>
                    <a:pt x="2375916" y="0"/>
                  </a:moveTo>
                  <a:lnTo>
                    <a:pt x="0" y="0"/>
                  </a:lnTo>
                  <a:lnTo>
                    <a:pt x="0" y="1754124"/>
                  </a:lnTo>
                  <a:lnTo>
                    <a:pt x="2375916" y="1754124"/>
                  </a:lnTo>
                  <a:lnTo>
                    <a:pt x="2375916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66303" y="3357371"/>
            <a:ext cx="8662035" cy="3224530"/>
            <a:chOff x="366303" y="3357371"/>
            <a:chExt cx="8662035" cy="32245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303" y="3760251"/>
              <a:ext cx="6587319" cy="28213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76287" y="3357371"/>
              <a:ext cx="2152015" cy="3046730"/>
            </a:xfrm>
            <a:custGeom>
              <a:avLst/>
              <a:gdLst/>
              <a:ahLst/>
              <a:cxnLst/>
              <a:rect l="l" t="t" r="r" b="b"/>
              <a:pathLst>
                <a:path w="2152015" h="3046729">
                  <a:moveTo>
                    <a:pt x="2151888" y="0"/>
                  </a:moveTo>
                  <a:lnTo>
                    <a:pt x="0" y="0"/>
                  </a:lnTo>
                  <a:lnTo>
                    <a:pt x="0" y="3046476"/>
                  </a:lnTo>
                  <a:lnTo>
                    <a:pt x="2151888" y="3046476"/>
                  </a:lnTo>
                  <a:lnTo>
                    <a:pt x="2151888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55917" y="3381502"/>
            <a:ext cx="199834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200" spc="-5" dirty="0">
                <a:latin typeface="Calibri"/>
                <a:cs typeface="Calibri"/>
              </a:rPr>
              <a:t>Most </a:t>
            </a:r>
            <a:r>
              <a:rPr sz="1200" dirty="0">
                <a:latin typeface="Calibri"/>
                <a:cs typeface="Calibri"/>
              </a:rPr>
              <a:t>of the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 submitted </a:t>
            </a:r>
            <a:r>
              <a:rPr sz="1200" dirty="0">
                <a:latin typeface="Calibri"/>
                <a:cs typeface="Calibri"/>
              </a:rPr>
              <a:t>Document 3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during loan application.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probably </a:t>
            </a:r>
            <a:r>
              <a:rPr sz="1200" dirty="0">
                <a:latin typeface="Calibri"/>
                <a:cs typeface="Calibri"/>
              </a:rPr>
              <a:t>it's a mandatory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document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a 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application.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dirty="0">
                <a:latin typeface="Calibri"/>
                <a:cs typeface="Calibri"/>
              </a:rPr>
              <a:t>who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also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submitted </a:t>
            </a:r>
            <a:r>
              <a:rPr sz="1200" dirty="0">
                <a:latin typeface="Calibri"/>
                <a:cs typeface="Calibri"/>
              </a:rPr>
              <a:t> Document 6 during 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lesser </a:t>
            </a:r>
            <a:r>
              <a:rPr sz="1200" dirty="0">
                <a:latin typeface="Calibri"/>
                <a:cs typeface="Calibri"/>
              </a:rPr>
              <a:t> chance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face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 </a:t>
            </a:r>
            <a:r>
              <a:rPr sz="1200" dirty="0">
                <a:latin typeface="Calibri"/>
                <a:cs typeface="Calibri"/>
              </a:rPr>
              <a:t> 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paying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installments.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Bank needs </a:t>
            </a:r>
            <a:r>
              <a:rPr sz="1200" spc="-5" dirty="0">
                <a:latin typeface="Calibri"/>
                <a:cs typeface="Calibri"/>
              </a:rPr>
              <a:t>to check </a:t>
            </a:r>
            <a:r>
              <a:rPr sz="1200" dirty="0">
                <a:latin typeface="Calibri"/>
                <a:cs typeface="Calibri"/>
              </a:rPr>
              <a:t> Document 6 and making it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5" dirty="0">
                <a:latin typeface="Calibri"/>
                <a:cs typeface="Calibri"/>
              </a:rPr>
              <a:t>mandatory </a:t>
            </a:r>
            <a:r>
              <a:rPr sz="1200" dirty="0">
                <a:latin typeface="Calibri"/>
                <a:cs typeface="Calibri"/>
              </a:rPr>
              <a:t>document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may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help</a:t>
            </a:r>
            <a:r>
              <a:rPr sz="1200" spc="-5" dirty="0">
                <a:latin typeface="Calibri"/>
                <a:cs typeface="Calibri"/>
              </a:rPr>
              <a:t> to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reduce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defaults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9890" y="1153795"/>
            <a:ext cx="2088514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 provided </a:t>
            </a:r>
            <a:r>
              <a:rPr sz="1200" dirty="0">
                <a:latin typeface="Calibri"/>
                <a:cs typeface="Calibri"/>
              </a:rPr>
              <a:t>their mobile number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-5" dirty="0">
                <a:latin typeface="Calibri"/>
                <a:cs typeface="Calibri"/>
              </a:rPr>
              <a:t>value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FLAG_CONT_MOBILE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FLAG_MOBIL </a:t>
            </a:r>
            <a:r>
              <a:rPr sz="1200" dirty="0">
                <a:latin typeface="Calibri"/>
                <a:cs typeface="Calibri"/>
              </a:rPr>
              <a:t>both </a:t>
            </a:r>
            <a:r>
              <a:rPr sz="1200" spc="-5" dirty="0">
                <a:latin typeface="Calibri"/>
                <a:cs typeface="Calibri"/>
              </a:rPr>
              <a:t>are almost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same, that </a:t>
            </a:r>
            <a:r>
              <a:rPr sz="1200" dirty="0">
                <a:latin typeface="Calibri"/>
                <a:cs typeface="Calibri"/>
              </a:rPr>
              <a:t>means the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were </a:t>
            </a:r>
            <a:r>
              <a:rPr sz="1200" spc="-5" dirty="0">
                <a:latin typeface="Calibri"/>
                <a:cs typeface="Calibri"/>
              </a:rPr>
              <a:t>reachable on provided </a:t>
            </a:r>
            <a:r>
              <a:rPr sz="1200" dirty="0">
                <a:latin typeface="Calibri"/>
                <a:cs typeface="Calibri"/>
              </a:rPr>
              <a:t> mobile</a:t>
            </a:r>
            <a:r>
              <a:rPr sz="1200" spc="-20" dirty="0">
                <a:latin typeface="Calibri"/>
                <a:cs typeface="Calibri"/>
              </a:rPr>
              <a:t> number.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So, </a:t>
            </a:r>
            <a:r>
              <a:rPr sz="1200" spc="-5" dirty="0">
                <a:latin typeface="Calibri"/>
                <a:cs typeface="Calibri"/>
              </a:rPr>
              <a:t>there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significant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case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fraud.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6563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6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75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35495" y="765048"/>
            <a:ext cx="2376170" cy="2862580"/>
          </a:xfrm>
          <a:custGeom>
            <a:avLst/>
            <a:gdLst/>
            <a:ahLst/>
            <a:cxnLst/>
            <a:rect l="l" t="t" r="r" b="b"/>
            <a:pathLst>
              <a:path w="2376170" h="2862579">
                <a:moveTo>
                  <a:pt x="2375916" y="0"/>
                </a:moveTo>
                <a:lnTo>
                  <a:pt x="0" y="0"/>
                </a:lnTo>
                <a:lnTo>
                  <a:pt x="0" y="2862072"/>
                </a:lnTo>
                <a:lnTo>
                  <a:pt x="2375916" y="2862072"/>
                </a:lnTo>
                <a:lnTo>
                  <a:pt x="2375916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14870" y="789559"/>
            <a:ext cx="220789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It </a:t>
            </a:r>
            <a:r>
              <a:rPr sz="1200" spc="-10" dirty="0">
                <a:latin typeface="Calibri"/>
                <a:cs typeface="Calibri"/>
              </a:rPr>
              <a:t>can </a:t>
            </a:r>
            <a:r>
              <a:rPr sz="1200" dirty="0">
                <a:latin typeface="Calibri"/>
                <a:cs typeface="Calibri"/>
              </a:rPr>
              <a:t>be </a:t>
            </a:r>
            <a:r>
              <a:rPr sz="1200" spc="-5" dirty="0">
                <a:latin typeface="Calibri"/>
                <a:cs typeface="Calibri"/>
              </a:rPr>
              <a:t>observed that Age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group </a:t>
            </a:r>
            <a:r>
              <a:rPr sz="1200" dirty="0">
                <a:latin typeface="Calibri"/>
                <a:cs typeface="Calibri"/>
              </a:rPr>
              <a:t>20-30 and 31-40 </a:t>
            </a:r>
            <a:r>
              <a:rPr sz="1200" spc="-5" dirty="0">
                <a:latin typeface="Calibri"/>
                <a:cs typeface="Calibri"/>
              </a:rPr>
              <a:t>face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more difficulties </a:t>
            </a:r>
            <a:r>
              <a:rPr sz="1200" dirty="0">
                <a:latin typeface="Calibri"/>
                <a:cs typeface="Calibri"/>
              </a:rPr>
              <a:t>in 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repayments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compare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age groups. </a:t>
            </a:r>
            <a:r>
              <a:rPr sz="1200" dirty="0">
                <a:latin typeface="Calibri"/>
                <a:cs typeface="Calibri"/>
              </a:rPr>
              <a:t>With </a:t>
            </a:r>
            <a:r>
              <a:rPr sz="1200" spc="-5" dirty="0">
                <a:latin typeface="Calibri"/>
                <a:cs typeface="Calibri"/>
              </a:rPr>
              <a:t>increased age </a:t>
            </a:r>
            <a:r>
              <a:rPr sz="1200" dirty="0">
                <a:latin typeface="Calibri"/>
                <a:cs typeface="Calibri"/>
              </a:rPr>
              <a:t> people </a:t>
            </a:r>
            <a:r>
              <a:rPr sz="1200" spc="-5" dirty="0">
                <a:latin typeface="Calibri"/>
                <a:cs typeface="Calibri"/>
              </a:rPr>
              <a:t>more </a:t>
            </a:r>
            <a:r>
              <a:rPr sz="1200" spc="-10" dirty="0">
                <a:latin typeface="Calibri"/>
                <a:cs typeface="Calibri"/>
              </a:rPr>
              <a:t>likely </a:t>
            </a:r>
            <a:r>
              <a:rPr sz="1200" spc="-5" dirty="0">
                <a:latin typeface="Calibri"/>
                <a:cs typeface="Calibri"/>
              </a:rPr>
              <a:t>to face </a:t>
            </a:r>
            <a:r>
              <a:rPr sz="1200" dirty="0">
                <a:latin typeface="Calibri"/>
                <a:cs typeface="Calibri"/>
              </a:rPr>
              <a:t>less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difficulty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paying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loan.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Here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can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see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people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above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age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60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least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chance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facing difficulties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5" dirty="0">
                <a:latin typeface="Calibri"/>
                <a:cs typeface="Calibri"/>
              </a:rPr>
              <a:t>paying </a:t>
            </a:r>
            <a:r>
              <a:rPr sz="1200" dirty="0">
                <a:latin typeface="Calibri"/>
                <a:cs typeface="Calibri"/>
              </a:rPr>
              <a:t> loan. </a:t>
            </a:r>
            <a:r>
              <a:rPr sz="1200" spc="-5" dirty="0">
                <a:latin typeface="Calibri"/>
                <a:cs typeface="Calibri"/>
              </a:rPr>
              <a:t>Previously </a:t>
            </a:r>
            <a:r>
              <a:rPr sz="1200" spc="-10" dirty="0">
                <a:latin typeface="Calibri"/>
                <a:cs typeface="Calibri"/>
              </a:rPr>
              <a:t>we saw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same kind of insights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 Pensioners.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'Above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60</a:t>
            </a:r>
            <a:r>
              <a:rPr sz="1200" spc="-10" dirty="0">
                <a:latin typeface="Calibri"/>
                <a:cs typeface="Calibri"/>
              </a:rPr>
              <a:t> years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age'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-5" dirty="0">
                <a:latin typeface="Calibri"/>
                <a:cs typeface="Calibri"/>
              </a:rPr>
              <a:t>'Pensioners' </a:t>
            </a:r>
            <a:r>
              <a:rPr sz="1200" dirty="0">
                <a:latin typeface="Calibri"/>
                <a:cs typeface="Calibri"/>
              </a:rPr>
              <a:t>both </a:t>
            </a:r>
            <a:r>
              <a:rPr sz="1200" spc="-5" dirty="0">
                <a:latin typeface="Calibri"/>
                <a:cs typeface="Calibri"/>
              </a:rPr>
              <a:t>points to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same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group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peoples.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662" y="797974"/>
            <a:ext cx="6377354" cy="20554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85" y="3747241"/>
            <a:ext cx="7117959" cy="229478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39583" y="3860291"/>
            <a:ext cx="1554480" cy="2677795"/>
          </a:xfrm>
          <a:custGeom>
            <a:avLst/>
            <a:gdLst/>
            <a:ahLst/>
            <a:cxnLst/>
            <a:rect l="l" t="t" r="r" b="b"/>
            <a:pathLst>
              <a:path w="1554479" h="2677795">
                <a:moveTo>
                  <a:pt x="1554479" y="0"/>
                </a:moveTo>
                <a:lnTo>
                  <a:pt x="0" y="0"/>
                </a:lnTo>
                <a:lnTo>
                  <a:pt x="0" y="2677667"/>
                </a:lnTo>
                <a:lnTo>
                  <a:pt x="1554479" y="2677667"/>
                </a:lnTo>
                <a:lnTo>
                  <a:pt x="1554479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39583" y="3860291"/>
            <a:ext cx="1554480" cy="240220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25400" rIns="0" bIns="0" rtlCol="0">
            <a:spAutoFit/>
          </a:bodyPr>
          <a:lstStyle/>
          <a:p>
            <a:pPr marL="379095" marR="90805" indent="-287020">
              <a:lnSpc>
                <a:spcPct val="100000"/>
              </a:lnSpc>
              <a:spcBef>
                <a:spcPts val="200"/>
              </a:spcBef>
              <a:buFont typeface="Wingdings"/>
              <a:buChar char=""/>
              <a:tabLst>
                <a:tab pos="379095" algn="l"/>
                <a:tab pos="379730" algn="l"/>
              </a:tabLst>
            </a:pPr>
            <a:r>
              <a:rPr sz="1200" spc="-5" dirty="0">
                <a:latin typeface="Calibri"/>
                <a:cs typeface="Calibri"/>
              </a:rPr>
              <a:t>Low </a:t>
            </a:r>
            <a:r>
              <a:rPr sz="1200" dirty="0">
                <a:latin typeface="Calibri"/>
                <a:cs typeface="Calibri"/>
              </a:rPr>
              <a:t>and Higher-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Medium </a:t>
            </a:r>
            <a:r>
              <a:rPr sz="1200" spc="-5" dirty="0">
                <a:latin typeface="Calibri"/>
                <a:cs typeface="Calibri"/>
              </a:rPr>
              <a:t>Income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Slab </a:t>
            </a:r>
            <a:r>
              <a:rPr sz="1200" dirty="0">
                <a:latin typeface="Calibri"/>
                <a:cs typeface="Calibri"/>
              </a:rPr>
              <a:t>people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highest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proportion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facing difficulties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5" dirty="0">
                <a:latin typeface="Calibri"/>
                <a:cs typeface="Calibri"/>
              </a:rPr>
              <a:t>paying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loan. </a:t>
            </a:r>
            <a:r>
              <a:rPr sz="1200" spc="-5" dirty="0">
                <a:latin typeface="Calibri"/>
                <a:cs typeface="Calibri"/>
              </a:rPr>
              <a:t>Again,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these </a:t>
            </a:r>
            <a:r>
              <a:rPr sz="1200" spc="-10" dirty="0">
                <a:latin typeface="Calibri"/>
                <a:cs typeface="Calibri"/>
              </a:rPr>
              <a:t>two </a:t>
            </a:r>
            <a:r>
              <a:rPr sz="1200" spc="-5" dirty="0">
                <a:latin typeface="Calibri"/>
                <a:cs typeface="Calibri"/>
              </a:rPr>
              <a:t> sections </a:t>
            </a:r>
            <a:r>
              <a:rPr sz="1200" dirty="0">
                <a:latin typeface="Calibri"/>
                <a:cs typeface="Calibri"/>
              </a:rPr>
              <a:t>people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having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Age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group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20-30 and 31-40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highest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6106" y="6263741"/>
            <a:ext cx="61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num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20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9936" y="6262115"/>
            <a:ext cx="7320280" cy="276225"/>
          </a:xfrm>
          <a:custGeom>
            <a:avLst/>
            <a:gdLst/>
            <a:ahLst/>
            <a:cxnLst/>
            <a:rect l="l" t="t" r="r" b="b"/>
            <a:pathLst>
              <a:path w="7320280" h="276225">
                <a:moveTo>
                  <a:pt x="7319772" y="0"/>
                </a:moveTo>
                <a:lnTo>
                  <a:pt x="0" y="0"/>
                </a:lnTo>
                <a:lnTo>
                  <a:pt x="0" y="275844"/>
                </a:lnTo>
                <a:lnTo>
                  <a:pt x="7319772" y="275844"/>
                </a:lnTo>
                <a:lnTo>
                  <a:pt x="7319772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9936" y="6262115"/>
            <a:ext cx="7320280" cy="27622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1200" spc="-10" dirty="0">
                <a:latin typeface="Calibri"/>
                <a:cs typeface="Calibri"/>
              </a:rPr>
              <a:t>So,</a:t>
            </a:r>
            <a:r>
              <a:rPr sz="1200" dirty="0">
                <a:latin typeface="Calibri"/>
                <a:cs typeface="Calibri"/>
              </a:rPr>
              <a:t> peoples</a:t>
            </a:r>
            <a:r>
              <a:rPr sz="1200" spc="-5" dirty="0">
                <a:latin typeface="Calibri"/>
                <a:cs typeface="Calibri"/>
              </a:rPr>
              <a:t> 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age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group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20-40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Low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Higher-Medium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income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groups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 most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likely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face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payment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6563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6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75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12179" y="4509515"/>
            <a:ext cx="2879090" cy="138557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8460" marR="84455" indent="-287020">
              <a:lnSpc>
                <a:spcPct val="100000"/>
              </a:lnSpc>
              <a:spcBef>
                <a:spcPts val="290"/>
              </a:spcBef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sz="1200" spc="-5" dirty="0">
                <a:latin typeface="Calibri"/>
                <a:cs typeface="Calibri"/>
              </a:rPr>
              <a:t>Most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customers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5" dirty="0">
                <a:latin typeface="Calibri"/>
                <a:cs typeface="Calibri"/>
              </a:rPr>
              <a:t> well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most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the people </a:t>
            </a:r>
            <a:r>
              <a:rPr sz="1200" spc="-5" dirty="0">
                <a:latin typeface="Calibri"/>
                <a:cs typeface="Calibri"/>
              </a:rPr>
              <a:t>who are facing problem </a:t>
            </a:r>
            <a:r>
              <a:rPr sz="1200" dirty="0">
                <a:latin typeface="Calibri"/>
                <a:cs typeface="Calibri"/>
              </a:rPr>
              <a:t> 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paying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back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Female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most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Female</a:t>
            </a:r>
            <a:r>
              <a:rPr sz="1200" dirty="0">
                <a:latin typeface="Calibri"/>
                <a:cs typeface="Calibri"/>
              </a:rPr>
              <a:t> don't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own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car. 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Male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Female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both,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they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35" dirty="0">
                <a:latin typeface="Calibri"/>
                <a:cs typeface="Calibri"/>
              </a:rPr>
              <a:t>car,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they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less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likely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face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5" dirty="0">
                <a:latin typeface="Calibri"/>
                <a:cs typeface="Calibri"/>
              </a:rPr>
              <a:t> repaying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990" y="749418"/>
            <a:ext cx="7601603" cy="29481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75" y="3893896"/>
            <a:ext cx="5779568" cy="25251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47916" y="1293875"/>
            <a:ext cx="1873250" cy="64643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195" rIns="0" bIns="0" rtlCol="0">
            <a:spAutoFit/>
          </a:bodyPr>
          <a:lstStyle/>
          <a:p>
            <a:pPr marL="264795" marR="273685" indent="-172720">
              <a:lnSpc>
                <a:spcPct val="100000"/>
              </a:lnSpc>
              <a:spcBef>
                <a:spcPts val="285"/>
              </a:spcBef>
              <a:buFont typeface="Wingdings"/>
              <a:buChar char=""/>
              <a:tabLst>
                <a:tab pos="265430" algn="l"/>
              </a:tabLst>
            </a:pPr>
            <a:r>
              <a:rPr sz="1200" spc="-5" dirty="0">
                <a:latin typeface="Calibri"/>
                <a:cs typeface="Calibri"/>
              </a:rPr>
              <a:t>Most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defaulters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have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occupation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Laborers.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4982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03" y="744226"/>
            <a:ext cx="7331603" cy="30919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647" y="4058499"/>
            <a:ext cx="6625106" cy="25094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47916" y="963167"/>
            <a:ext cx="1945005" cy="194056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7465" rIns="0" bIns="0" rtlCol="0">
            <a:spAutoFit/>
          </a:bodyPr>
          <a:lstStyle/>
          <a:p>
            <a:pPr marL="264795" marR="108585" indent="-172720">
              <a:lnSpc>
                <a:spcPct val="100000"/>
              </a:lnSpc>
              <a:spcBef>
                <a:spcPts val="295"/>
              </a:spcBef>
              <a:buFont typeface="Wingdings"/>
              <a:buChar char=""/>
              <a:tabLst>
                <a:tab pos="265430" algn="l"/>
              </a:tabLst>
            </a:pPr>
            <a:r>
              <a:rPr sz="1200" spc="-5" dirty="0">
                <a:latin typeface="Calibri"/>
                <a:cs typeface="Calibri"/>
              </a:rPr>
              <a:t>Credited amount </a:t>
            </a:r>
            <a:r>
              <a:rPr sz="1200" dirty="0">
                <a:latin typeface="Calibri"/>
                <a:cs typeface="Calibri"/>
              </a:rPr>
              <a:t>median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values of 'Cash loans' </a:t>
            </a:r>
            <a:r>
              <a:rPr sz="1200" dirty="0">
                <a:latin typeface="Calibri"/>
                <a:cs typeface="Calibri"/>
              </a:rPr>
              <a:t>is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exactly </a:t>
            </a:r>
            <a:r>
              <a:rPr sz="1200" spc="-5" dirty="0">
                <a:latin typeface="Calibri"/>
                <a:cs typeface="Calibri"/>
              </a:rPr>
              <a:t>same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type of clients (0,1). </a:t>
            </a:r>
            <a:r>
              <a:rPr sz="1200" dirty="0">
                <a:latin typeface="Calibri"/>
                <a:cs typeface="Calibri"/>
              </a:rPr>
              <a:t> Median </a:t>
            </a:r>
            <a:r>
              <a:rPr sz="1200" spc="-5" dirty="0">
                <a:latin typeface="Calibri"/>
                <a:cs typeface="Calibri"/>
              </a:rPr>
              <a:t>value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'Revolving </a:t>
            </a:r>
            <a:r>
              <a:rPr sz="1200" spc="-5" dirty="0">
                <a:latin typeface="Calibri"/>
                <a:cs typeface="Calibri"/>
              </a:rPr>
              <a:t>loans' </a:t>
            </a:r>
            <a:r>
              <a:rPr sz="1200" dirty="0">
                <a:latin typeface="Calibri"/>
                <a:cs typeface="Calibri"/>
              </a:rPr>
              <a:t>is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slightly lower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clients with payment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difficulties.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We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can </a:t>
            </a:r>
            <a:r>
              <a:rPr sz="1200" spc="-5" dirty="0">
                <a:latin typeface="Calibri"/>
                <a:cs typeface="Calibri"/>
              </a:rPr>
              <a:t>see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outliers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plots.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7916" y="4017264"/>
            <a:ext cx="1945005" cy="230886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9095" marR="118110" indent="-287020">
              <a:lnSpc>
                <a:spcPct val="100000"/>
              </a:lnSpc>
              <a:spcBef>
                <a:spcPts val="290"/>
              </a:spcBef>
              <a:buFont typeface="Wingdings"/>
              <a:buChar char=""/>
              <a:tabLst>
                <a:tab pos="379095" algn="l"/>
                <a:tab pos="379730" algn="l"/>
              </a:tabLst>
            </a:pPr>
            <a:r>
              <a:rPr sz="1200" spc="-5" dirty="0">
                <a:latin typeface="Calibri"/>
                <a:cs typeface="Calibri"/>
              </a:rPr>
              <a:t>Outliers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can</a:t>
            </a:r>
            <a:r>
              <a:rPr sz="1200" dirty="0">
                <a:latin typeface="Calibri"/>
                <a:cs typeface="Calibri"/>
              </a:rPr>
              <a:t> be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observed </a:t>
            </a:r>
            <a:r>
              <a:rPr sz="1200" dirty="0">
                <a:latin typeface="Calibri"/>
                <a:cs typeface="Calibri"/>
              </a:rPr>
              <a:t>in both 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plots.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Median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values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credited amount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different </a:t>
            </a:r>
            <a:r>
              <a:rPr sz="1200" spc="-5" dirty="0">
                <a:latin typeface="Calibri"/>
                <a:cs typeface="Calibri"/>
              </a:rPr>
              <a:t>INCOME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SLABS are almost same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 both </a:t>
            </a:r>
            <a:r>
              <a:rPr sz="1200" spc="-20" dirty="0">
                <a:latin typeface="Calibri"/>
                <a:cs typeface="Calibri"/>
              </a:rPr>
              <a:t>TARGET </a:t>
            </a:r>
            <a:r>
              <a:rPr sz="1200" dirty="0">
                <a:latin typeface="Calibri"/>
                <a:cs typeface="Calibri"/>
              </a:rPr>
              <a:t>type.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We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can</a:t>
            </a:r>
            <a:r>
              <a:rPr sz="1200" dirty="0">
                <a:latin typeface="Calibri"/>
                <a:cs typeface="Calibri"/>
              </a:rPr>
              <a:t> also </a:t>
            </a:r>
            <a:r>
              <a:rPr sz="1200" spc="-5" dirty="0">
                <a:latin typeface="Calibri"/>
                <a:cs typeface="Calibri"/>
              </a:rPr>
              <a:t>see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increase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5" dirty="0">
                <a:latin typeface="Calibri"/>
                <a:cs typeface="Calibri"/>
              </a:rPr>
              <a:t>credited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amount </a:t>
            </a:r>
            <a:r>
              <a:rPr sz="1200" dirty="0">
                <a:latin typeface="Calibri"/>
                <a:cs typeface="Calibri"/>
              </a:rPr>
              <a:t>median </a:t>
            </a:r>
            <a:r>
              <a:rPr sz="1200" spc="-5" dirty="0">
                <a:latin typeface="Calibri"/>
                <a:cs typeface="Calibri"/>
              </a:rPr>
              <a:t>value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income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slabs.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4982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46392" y="1557527"/>
            <a:ext cx="1945005" cy="64643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195" rIns="0" bIns="0" rtlCol="0">
            <a:spAutoFit/>
          </a:bodyPr>
          <a:lstStyle/>
          <a:p>
            <a:pPr marL="264795" marR="100330" indent="-172720">
              <a:lnSpc>
                <a:spcPct val="100000"/>
              </a:lnSpc>
              <a:spcBef>
                <a:spcPts val="285"/>
              </a:spcBef>
              <a:buFont typeface="Wingdings"/>
              <a:buChar char=""/>
              <a:tabLst>
                <a:tab pos="265430" algn="l"/>
              </a:tabLst>
            </a:pPr>
            <a:r>
              <a:rPr sz="1200" spc="-5" dirty="0">
                <a:latin typeface="Calibri"/>
                <a:cs typeface="Calibri"/>
              </a:rPr>
              <a:t>There </a:t>
            </a:r>
            <a:r>
              <a:rPr sz="1200" dirty="0">
                <a:latin typeface="Calibri"/>
                <a:cs typeface="Calibri"/>
              </a:rPr>
              <a:t>is not much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plots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TARGET=0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47916" y="4017264"/>
            <a:ext cx="1945005" cy="175450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830" rIns="0" bIns="0" rtlCol="0">
            <a:spAutoFit/>
          </a:bodyPr>
          <a:lstStyle/>
          <a:p>
            <a:pPr marL="379095" marR="87630" indent="-287020">
              <a:lnSpc>
                <a:spcPct val="100000"/>
              </a:lnSpc>
              <a:spcBef>
                <a:spcPts val="290"/>
              </a:spcBef>
              <a:buFont typeface="Wingdings"/>
              <a:buChar char=""/>
              <a:tabLst>
                <a:tab pos="379095" algn="l"/>
                <a:tab pos="379730" algn="l"/>
              </a:tabLst>
            </a:pPr>
            <a:r>
              <a:rPr sz="1200" dirty="0">
                <a:latin typeface="Calibri"/>
                <a:cs typeface="Calibri"/>
              </a:rPr>
              <a:t>Median </a:t>
            </a:r>
            <a:r>
              <a:rPr sz="1200" spc="-5" dirty="0">
                <a:latin typeface="Calibri"/>
                <a:cs typeface="Calibri"/>
              </a:rPr>
              <a:t>value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Amount credit </a:t>
            </a:r>
            <a:r>
              <a:rPr sz="1200" dirty="0">
                <a:latin typeface="Calibri"/>
                <a:cs typeface="Calibri"/>
              </a:rPr>
              <a:t>is higher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clients having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'Academic degree'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Target=1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value </a:t>
            </a:r>
            <a:r>
              <a:rPr sz="1200" dirty="0">
                <a:latin typeface="Calibri"/>
                <a:cs typeface="Calibri"/>
              </a:rPr>
              <a:t> 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even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most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values are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between </a:t>
            </a:r>
            <a:r>
              <a:rPr sz="1200" dirty="0">
                <a:latin typeface="Calibri"/>
                <a:cs typeface="Calibri"/>
              </a:rPr>
              <a:t>50 </a:t>
            </a:r>
            <a:r>
              <a:rPr sz="1200" spc="-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75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percentile.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406" y="817441"/>
            <a:ext cx="6406679" cy="23538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633" y="3354216"/>
            <a:ext cx="6522736" cy="31429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4982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427" y="804036"/>
            <a:ext cx="7109460" cy="28795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550" y="3931083"/>
            <a:ext cx="6649208" cy="26084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96911" y="4093464"/>
            <a:ext cx="1656714" cy="249364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7465" rIns="0" bIns="0" rtlCol="0">
            <a:spAutoFit/>
          </a:bodyPr>
          <a:lstStyle/>
          <a:p>
            <a:pPr marL="378460" marR="94615" indent="-287020">
              <a:lnSpc>
                <a:spcPct val="100000"/>
              </a:lnSpc>
              <a:spcBef>
                <a:spcPts val="295"/>
              </a:spcBef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sz="1200" dirty="0">
                <a:latin typeface="Calibri"/>
                <a:cs typeface="Calibri"/>
              </a:rPr>
              <a:t>Median </a:t>
            </a:r>
            <a:r>
              <a:rPr sz="1200" spc="-5" dirty="0">
                <a:latin typeface="Calibri"/>
                <a:cs typeface="Calibri"/>
              </a:rPr>
              <a:t>value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spc="-1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5" dirty="0">
                <a:latin typeface="Calibri"/>
                <a:cs typeface="Calibri"/>
              </a:rPr>
              <a:t>d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1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amou</a:t>
            </a:r>
            <a:r>
              <a:rPr sz="1200" spc="-10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  the </a:t>
            </a:r>
            <a:r>
              <a:rPr sz="1200" spc="-5" dirty="0">
                <a:latin typeface="Calibri"/>
                <a:cs typeface="Calibri"/>
              </a:rPr>
              <a:t>highest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Married</a:t>
            </a:r>
            <a:r>
              <a:rPr sz="1200" spc="27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dirty="0">
                <a:latin typeface="Calibri"/>
                <a:cs typeface="Calibri"/>
              </a:rPr>
              <a:t> and </a:t>
            </a:r>
            <a:r>
              <a:rPr sz="1200" spc="-5" dirty="0">
                <a:latin typeface="Calibri"/>
                <a:cs typeface="Calibri"/>
              </a:rPr>
              <a:t>lowest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 Single/</a:t>
            </a:r>
            <a:r>
              <a:rPr sz="1200" spc="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not </a:t>
            </a:r>
            <a:r>
              <a:rPr sz="1200" dirty="0">
                <a:latin typeface="Calibri"/>
                <a:cs typeface="Calibri"/>
              </a:rPr>
              <a:t> married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 the </a:t>
            </a:r>
            <a:r>
              <a:rPr sz="1200" spc="-5" dirty="0">
                <a:latin typeface="Calibri"/>
                <a:cs typeface="Calibri"/>
              </a:rPr>
              <a:t>cases. </a:t>
            </a:r>
            <a:r>
              <a:rPr sz="1200" dirty="0">
                <a:latin typeface="Calibri"/>
                <a:cs typeface="Calibri"/>
              </a:rPr>
              <a:t> Median </a:t>
            </a:r>
            <a:r>
              <a:rPr sz="1200" spc="-5" dirty="0">
                <a:latin typeface="Calibri"/>
                <a:cs typeface="Calibri"/>
              </a:rPr>
              <a:t>values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different </a:t>
            </a:r>
            <a:r>
              <a:rPr sz="1200" spc="-5" dirty="0">
                <a:latin typeface="Calibri"/>
                <a:cs typeface="Calibri"/>
              </a:rPr>
              <a:t>groups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 almost same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15" dirty="0">
                <a:latin typeface="Calibri"/>
                <a:cs typeface="Calibri"/>
              </a:rPr>
              <a:t>TARGET=0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TARGET=1</a:t>
            </a:r>
            <a:r>
              <a:rPr sz="1200" spc="-5" dirty="0">
                <a:latin typeface="Calibri"/>
                <a:cs typeface="Calibri"/>
              </a:rPr>
              <a:t> clients.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8288" y="1386839"/>
            <a:ext cx="1315720" cy="175450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830" rIns="0" bIns="0" rtlCol="0">
            <a:spAutoFit/>
          </a:bodyPr>
          <a:lstStyle/>
          <a:p>
            <a:pPr marL="264795" marR="129539" indent="-172720">
              <a:lnSpc>
                <a:spcPct val="100000"/>
              </a:lnSpc>
              <a:spcBef>
                <a:spcPts val="290"/>
              </a:spcBef>
              <a:buFont typeface="Wingdings"/>
              <a:buChar char=""/>
              <a:tabLst>
                <a:tab pos="265430" algn="l"/>
              </a:tabLst>
            </a:pPr>
            <a:r>
              <a:rPr sz="1200" dirty="0">
                <a:latin typeface="Calibri"/>
                <a:cs typeface="Calibri"/>
              </a:rPr>
              <a:t>Median </a:t>
            </a:r>
            <a:r>
              <a:rPr sz="1200" spc="-5" dirty="0">
                <a:latin typeface="Calibri"/>
                <a:cs typeface="Calibri"/>
              </a:rPr>
              <a:t>value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Credited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amount </a:t>
            </a:r>
            <a:r>
              <a:rPr sz="1200" dirty="0">
                <a:latin typeface="Calibri"/>
                <a:cs typeface="Calibri"/>
              </a:rPr>
              <a:t>is 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highest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 Managers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Lowest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 Low-skill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Laborers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both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plots.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Previous</a:t>
            </a:r>
            <a:r>
              <a:rPr spc="-45" dirty="0"/>
              <a:t> </a:t>
            </a:r>
            <a:r>
              <a:rPr spc="-10" dirty="0"/>
              <a:t>Application</a:t>
            </a:r>
            <a:r>
              <a:rPr spc="-25" dirty="0"/>
              <a:t> </a:t>
            </a:r>
            <a:r>
              <a:rPr spc="-30" dirty="0"/>
              <a:t>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321" y="49225"/>
            <a:ext cx="70180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6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8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Numeric</a:t>
            </a:r>
            <a:r>
              <a:rPr sz="3000" spc="285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040" y="828288"/>
            <a:ext cx="4368656" cy="2756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972" y="3630167"/>
            <a:ext cx="4142740" cy="46228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7465" rIns="0" bIns="0" rtlCol="0">
            <a:spAutoFit/>
          </a:bodyPr>
          <a:lstStyle/>
          <a:p>
            <a:pPr marL="264160" marR="226695" indent="-172720">
              <a:lnSpc>
                <a:spcPct val="100000"/>
              </a:lnSpc>
              <a:spcBef>
                <a:spcPts val="295"/>
              </a:spcBef>
              <a:buFont typeface="Wingdings"/>
              <a:buChar char=""/>
              <a:tabLst>
                <a:tab pos="264795" algn="l"/>
              </a:tabLst>
            </a:pPr>
            <a:r>
              <a:rPr sz="1200" spc="-5" dirty="0">
                <a:latin typeface="Calibri"/>
                <a:cs typeface="Calibri"/>
              </a:rPr>
              <a:t>Most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'Approved'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1.6%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'Unused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offer'.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80432" y="3636264"/>
            <a:ext cx="4084320" cy="462280"/>
          </a:xfrm>
          <a:custGeom>
            <a:avLst/>
            <a:gdLst/>
            <a:ahLst/>
            <a:cxnLst/>
            <a:rect l="l" t="t" r="r" b="b"/>
            <a:pathLst>
              <a:path w="4084320" h="462279">
                <a:moveTo>
                  <a:pt x="4084319" y="0"/>
                </a:moveTo>
                <a:lnTo>
                  <a:pt x="0" y="0"/>
                </a:lnTo>
                <a:lnTo>
                  <a:pt x="0" y="461772"/>
                </a:lnTo>
                <a:lnTo>
                  <a:pt x="4084319" y="461772"/>
                </a:lnTo>
                <a:lnTo>
                  <a:pt x="4084319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60060" y="3661409"/>
            <a:ext cx="3679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5" dirty="0">
                <a:latin typeface="Calibri"/>
                <a:cs typeface="Calibri"/>
              </a:rPr>
              <a:t>previous applications are </a:t>
            </a:r>
            <a:r>
              <a:rPr sz="1200" spc="-10" dirty="0">
                <a:latin typeface="Calibri"/>
                <a:cs typeface="Calibri"/>
              </a:rPr>
              <a:t>Repeater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clients.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2778" y="4343129"/>
            <a:ext cx="8432165" cy="2372360"/>
            <a:chOff x="632778" y="4343129"/>
            <a:chExt cx="8432165" cy="23723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778" y="4343129"/>
              <a:ext cx="4347644" cy="23720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80431" y="5373624"/>
              <a:ext cx="4084320" cy="462280"/>
            </a:xfrm>
            <a:custGeom>
              <a:avLst/>
              <a:gdLst/>
              <a:ahLst/>
              <a:cxnLst/>
              <a:rect l="l" t="t" r="r" b="b"/>
              <a:pathLst>
                <a:path w="4084320" h="462279">
                  <a:moveTo>
                    <a:pt x="4084319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4084319" y="461772"/>
                  </a:lnTo>
                  <a:lnTo>
                    <a:pt x="4084319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60060" y="5398134"/>
            <a:ext cx="37566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200" spc="-5" dirty="0">
                <a:latin typeface="Calibri"/>
                <a:cs typeface="Calibri"/>
              </a:rPr>
              <a:t>On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Sunday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numbers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dirty="0">
                <a:latin typeface="Calibri"/>
                <a:cs typeface="Calibri"/>
              </a:rPr>
              <a:t> loan</a:t>
            </a:r>
            <a:r>
              <a:rPr sz="1200" spc="-5" dirty="0">
                <a:latin typeface="Calibri"/>
                <a:cs typeface="Calibri"/>
              </a:rPr>
              <a:t> applications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are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least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it's </a:t>
            </a:r>
            <a:r>
              <a:rPr sz="1200" spc="-5" dirty="0">
                <a:latin typeface="Calibri"/>
                <a:cs typeface="Calibri"/>
              </a:rPr>
              <a:t>highest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on </a:t>
            </a:r>
            <a:r>
              <a:rPr sz="1200" spc="-15" dirty="0">
                <a:latin typeface="Calibri"/>
                <a:cs typeface="Calibri"/>
              </a:rPr>
              <a:t>Tuesday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Wednesday.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99168" y="824714"/>
            <a:ext cx="4131100" cy="256359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321" y="49225"/>
            <a:ext cx="70180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6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8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Numeric</a:t>
            </a:r>
            <a:r>
              <a:rPr sz="3000" spc="285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60035" y="4802123"/>
            <a:ext cx="4046220" cy="46228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8100" rIns="0" bIns="0" rtlCol="0">
            <a:spAutoFit/>
          </a:bodyPr>
          <a:lstStyle/>
          <a:p>
            <a:pPr marL="264160" marR="552450" indent="-1727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264795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clients on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previous application </a:t>
            </a:r>
            <a:r>
              <a:rPr sz="1200" spc="-10" dirty="0">
                <a:latin typeface="Calibri"/>
                <a:cs typeface="Calibri"/>
              </a:rPr>
              <a:t>were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acquired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through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'Credit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Cash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office'.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556" y="4802123"/>
            <a:ext cx="4457700" cy="46228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8100" rIns="0" bIns="0" rtlCol="0">
            <a:spAutoFit/>
          </a:bodyPr>
          <a:lstStyle/>
          <a:p>
            <a:pPr marL="263525" marR="442595" indent="-1727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264160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previous applications are related to </a:t>
            </a:r>
            <a:r>
              <a:rPr sz="1200" spc="-10" dirty="0">
                <a:latin typeface="Calibri"/>
                <a:cs typeface="Calibri"/>
              </a:rPr>
              <a:t>Point </a:t>
            </a:r>
            <a:r>
              <a:rPr sz="1200" spc="-5" dirty="0">
                <a:latin typeface="Calibri"/>
                <a:cs typeface="Calibri"/>
              </a:rPr>
              <a:t>of Sale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(POS)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followed</a:t>
            </a:r>
            <a:r>
              <a:rPr sz="1200" dirty="0">
                <a:latin typeface="Calibri"/>
                <a:cs typeface="Calibri"/>
              </a:rPr>
              <a:t> 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Cash.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4632" y="1097836"/>
            <a:ext cx="3956328" cy="32988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929" y="1112157"/>
            <a:ext cx="4380113" cy="32722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321" y="49225"/>
            <a:ext cx="70180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Bahnschrift"/>
                <a:cs typeface="Bahnschrift"/>
              </a:rPr>
              <a:t>Univariate</a:t>
            </a:r>
            <a:r>
              <a:rPr sz="3000" spc="254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Analysis</a:t>
            </a:r>
            <a:r>
              <a:rPr sz="3000" spc="260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of</a:t>
            </a:r>
            <a:r>
              <a:rPr sz="3000" spc="285" dirty="0">
                <a:latin typeface="Bahnschrift"/>
                <a:cs typeface="Bahnschrift"/>
              </a:rPr>
              <a:t> </a:t>
            </a:r>
            <a:r>
              <a:rPr sz="3000" spc="-5" dirty="0">
                <a:latin typeface="Bahnschrift"/>
                <a:cs typeface="Bahnschrift"/>
              </a:rPr>
              <a:t>Numeric</a:t>
            </a:r>
            <a:r>
              <a:rPr sz="3000" spc="285" dirty="0">
                <a:latin typeface="Bahnschrift"/>
                <a:cs typeface="Bahnschrift"/>
              </a:rPr>
              <a:t> </a:t>
            </a:r>
            <a:r>
              <a:rPr sz="3000" dirty="0">
                <a:latin typeface="Bahnschrift"/>
                <a:cs typeface="Bahnschrift"/>
              </a:rPr>
              <a:t>Variables</a:t>
            </a:r>
            <a:endParaRPr sz="30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972" y="5701284"/>
            <a:ext cx="7489190" cy="27749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7465" rIns="0" bIns="0" rtlCol="0">
            <a:spAutoFit/>
          </a:bodyPr>
          <a:lstStyle/>
          <a:p>
            <a:pPr marL="264160" indent="-173355">
              <a:lnSpc>
                <a:spcPct val="100000"/>
              </a:lnSpc>
              <a:spcBef>
                <a:spcPts val="295"/>
              </a:spcBef>
              <a:buFont typeface="Wingdings"/>
              <a:buChar char=""/>
              <a:tabLst>
                <a:tab pos="264795" algn="l"/>
              </a:tabLst>
            </a:pPr>
            <a:r>
              <a:rPr sz="1200" spc="-5" dirty="0">
                <a:latin typeface="Calibri"/>
                <a:cs typeface="Calibri"/>
              </a:rPr>
              <a:t>Most 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previous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Loans are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taken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Mobile, </a:t>
            </a:r>
            <a:r>
              <a:rPr sz="1200" spc="-5" dirty="0">
                <a:latin typeface="Calibri"/>
                <a:cs typeface="Calibri"/>
              </a:rPr>
              <a:t>Consumer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Electronics,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Computers,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Audio/Video.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20" y="1217306"/>
            <a:ext cx="7788459" cy="43279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6563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6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75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55" y="1293983"/>
            <a:ext cx="4795142" cy="22389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371" y="3828107"/>
            <a:ext cx="5559846" cy="25972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2099" y="1431589"/>
            <a:ext cx="4079920" cy="19629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67400" y="3691128"/>
            <a:ext cx="3070860" cy="286385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7465" rIns="0" bIns="0" rtlCol="0">
            <a:spAutoFit/>
          </a:bodyPr>
          <a:lstStyle/>
          <a:p>
            <a:pPr marL="264795" indent="-172720">
              <a:lnSpc>
                <a:spcPct val="100000"/>
              </a:lnSpc>
              <a:spcBef>
                <a:spcPts val="295"/>
              </a:spcBef>
              <a:buFont typeface="Wingdings"/>
              <a:buChar char=""/>
              <a:tabLst>
                <a:tab pos="265430" algn="l"/>
              </a:tabLst>
            </a:pPr>
            <a:r>
              <a:rPr sz="1200" dirty="0">
                <a:latin typeface="Calibri"/>
                <a:cs typeface="Calibri"/>
              </a:rPr>
              <a:t>Loans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Saturday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highest</a:t>
            </a:r>
            <a:endParaRPr sz="1200">
              <a:latin typeface="Calibri"/>
              <a:cs typeface="Calibri"/>
            </a:endParaRPr>
          </a:p>
          <a:p>
            <a:pPr marL="26479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chance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getting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approved.</a:t>
            </a:r>
            <a:endParaRPr sz="1200">
              <a:latin typeface="Calibri"/>
              <a:cs typeface="Calibri"/>
            </a:endParaRPr>
          </a:p>
          <a:p>
            <a:pPr marL="264795" marR="86360" indent="-172720">
              <a:lnSpc>
                <a:spcPct val="100000"/>
              </a:lnSpc>
              <a:buFont typeface="Wingdings"/>
              <a:buChar char=""/>
              <a:tabLst>
                <a:tab pos="265430" algn="l"/>
              </a:tabLst>
            </a:pPr>
            <a:r>
              <a:rPr sz="1200" spc="-5" dirty="0">
                <a:latin typeface="Calibri"/>
                <a:cs typeface="Calibri"/>
              </a:rPr>
              <a:t>Most </a:t>
            </a:r>
            <a:r>
              <a:rPr sz="1200" dirty="0">
                <a:latin typeface="Calibri"/>
                <a:cs typeface="Calibri"/>
              </a:rPr>
              <a:t>of the </a:t>
            </a:r>
            <a:r>
              <a:rPr sz="1200" spc="-5" dirty="0">
                <a:latin typeface="Calibri"/>
                <a:cs typeface="Calibri"/>
              </a:rPr>
              <a:t>previous </a:t>
            </a:r>
            <a:r>
              <a:rPr sz="1200" dirty="0">
                <a:latin typeface="Calibri"/>
                <a:cs typeface="Calibri"/>
              </a:rPr>
              <a:t>applications </a:t>
            </a:r>
            <a:r>
              <a:rPr sz="1200" spc="-5" dirty="0">
                <a:latin typeface="Calibri"/>
                <a:cs typeface="Calibri"/>
              </a:rPr>
              <a:t>are </a:t>
            </a:r>
            <a:r>
              <a:rPr sz="1200" spc="-10" dirty="0">
                <a:latin typeface="Calibri"/>
                <a:cs typeface="Calibri"/>
              </a:rPr>
              <a:t>from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Repeater </a:t>
            </a:r>
            <a:r>
              <a:rPr sz="1200" spc="-5" dirty="0">
                <a:latin typeface="Calibri"/>
                <a:cs typeface="Calibri"/>
              </a:rPr>
              <a:t>clients. There are </a:t>
            </a:r>
            <a:r>
              <a:rPr sz="1200" dirty="0">
                <a:latin typeface="Calibri"/>
                <a:cs typeface="Calibri"/>
              </a:rPr>
              <a:t>no </a:t>
            </a:r>
            <a:r>
              <a:rPr sz="1200" spc="-5" dirty="0">
                <a:latin typeface="Calibri"/>
                <a:cs typeface="Calibri"/>
              </a:rPr>
              <a:t>canceled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status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new </a:t>
            </a:r>
            <a:r>
              <a:rPr sz="1200" spc="-5" dirty="0">
                <a:latin typeface="Calibri"/>
                <a:cs typeface="Calibri"/>
              </a:rPr>
              <a:t>clients. Most </a:t>
            </a:r>
            <a:r>
              <a:rPr sz="1200" dirty="0">
                <a:latin typeface="Calibri"/>
                <a:cs typeface="Calibri"/>
              </a:rPr>
              <a:t>of the unused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offers </a:t>
            </a:r>
            <a:r>
              <a:rPr sz="1200" spc="-5" dirty="0">
                <a:latin typeface="Calibri"/>
                <a:cs typeface="Calibri"/>
              </a:rPr>
              <a:t>are </a:t>
            </a:r>
            <a:r>
              <a:rPr sz="1200" spc="-10" dirty="0">
                <a:latin typeface="Calibri"/>
                <a:cs typeface="Calibri"/>
              </a:rPr>
              <a:t>from Repeater customers. </a:t>
            </a:r>
            <a:r>
              <a:rPr sz="1200" spc="-5" dirty="0">
                <a:latin typeface="Calibri"/>
                <a:cs typeface="Calibri"/>
              </a:rPr>
              <a:t> Probably </a:t>
            </a:r>
            <a:r>
              <a:rPr sz="1200" dirty="0">
                <a:latin typeface="Calibri"/>
                <a:cs typeface="Calibri"/>
              </a:rPr>
              <a:t>it's easier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Repeater </a:t>
            </a:r>
            <a:r>
              <a:rPr sz="1200" spc="-5" dirty="0">
                <a:latin typeface="Calibri"/>
                <a:cs typeface="Calibri"/>
              </a:rPr>
              <a:t> customers to </a:t>
            </a:r>
            <a:r>
              <a:rPr sz="1200" spc="-10" dirty="0">
                <a:latin typeface="Calibri"/>
                <a:cs typeface="Calibri"/>
              </a:rPr>
              <a:t>get </a:t>
            </a:r>
            <a:r>
              <a:rPr sz="1200" dirty="0">
                <a:latin typeface="Calibri"/>
                <a:cs typeface="Calibri"/>
              </a:rPr>
              <a:t>a loan </a:t>
            </a:r>
            <a:r>
              <a:rPr sz="1200" spc="-5" dirty="0">
                <a:latin typeface="Calibri"/>
                <a:cs typeface="Calibri"/>
              </a:rPr>
              <a:t>approved, so </a:t>
            </a:r>
            <a:r>
              <a:rPr sz="1200" spc="-10" dirty="0">
                <a:latin typeface="Calibri"/>
                <a:cs typeface="Calibri"/>
              </a:rPr>
              <a:t>few </a:t>
            </a:r>
            <a:r>
              <a:rPr sz="1200" dirty="0">
                <a:latin typeface="Calibri"/>
                <a:cs typeface="Calibri"/>
              </a:rPr>
              <a:t>of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them might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approved </a:t>
            </a:r>
            <a:r>
              <a:rPr sz="1200" dirty="0">
                <a:latin typeface="Calibri"/>
                <a:cs typeface="Calibri"/>
              </a:rPr>
              <a:t>loans though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they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 it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later.</a:t>
            </a:r>
            <a:endParaRPr sz="1200">
              <a:latin typeface="Calibri"/>
              <a:cs typeface="Calibri"/>
            </a:endParaRPr>
          </a:p>
          <a:p>
            <a:pPr marL="264795" marR="180975" indent="-172720">
              <a:lnSpc>
                <a:spcPct val="100000"/>
              </a:lnSpc>
              <a:buFont typeface="Wingdings"/>
              <a:buChar char=""/>
              <a:tabLst>
                <a:tab pos="265430" algn="l"/>
              </a:tabLst>
            </a:pPr>
            <a:r>
              <a:rPr sz="1200" spc="-5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POS and </a:t>
            </a:r>
            <a:r>
              <a:rPr sz="1200" spc="-5" dirty="0">
                <a:latin typeface="Calibri"/>
                <a:cs typeface="Calibri"/>
              </a:rPr>
              <a:t>CARDS there are </a:t>
            </a:r>
            <a:r>
              <a:rPr sz="1200" dirty="0">
                <a:latin typeface="Calibri"/>
                <a:cs typeface="Calibri"/>
              </a:rPr>
              <a:t>no unused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loans. Chance of a loan </a:t>
            </a:r>
            <a:r>
              <a:rPr sz="1200" spc="-5" dirty="0">
                <a:latin typeface="Calibri"/>
                <a:cs typeface="Calibri"/>
              </a:rPr>
              <a:t>application </a:t>
            </a:r>
            <a:r>
              <a:rPr sz="1200" dirty="0">
                <a:latin typeface="Calibri"/>
                <a:cs typeface="Calibri"/>
              </a:rPr>
              <a:t>of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getting </a:t>
            </a:r>
            <a:r>
              <a:rPr sz="1200" spc="-10" dirty="0">
                <a:latin typeface="Calibri"/>
                <a:cs typeface="Calibri"/>
              </a:rPr>
              <a:t>Refused </a:t>
            </a:r>
            <a:r>
              <a:rPr sz="1200" dirty="0">
                <a:latin typeface="Calibri"/>
                <a:cs typeface="Calibri"/>
              </a:rPr>
              <a:t>is higher when it's </a:t>
            </a:r>
            <a:r>
              <a:rPr sz="1200" spc="-5" dirty="0">
                <a:latin typeface="Calibri"/>
                <a:cs typeface="Calibri"/>
              </a:rPr>
              <a:t>Cash </a:t>
            </a:r>
            <a:r>
              <a:rPr sz="1200" dirty="0">
                <a:latin typeface="Calibri"/>
                <a:cs typeface="Calibri"/>
              </a:rPr>
              <a:t>or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Card. </a:t>
            </a:r>
            <a:r>
              <a:rPr sz="1200" dirty="0">
                <a:latin typeface="Calibri"/>
                <a:cs typeface="Calibri"/>
              </a:rPr>
              <a:t>The loan is </a:t>
            </a:r>
            <a:r>
              <a:rPr sz="1200" spc="-5" dirty="0">
                <a:latin typeface="Calibri"/>
                <a:cs typeface="Calibri"/>
              </a:rPr>
              <a:t>very unlikely to </a:t>
            </a:r>
            <a:r>
              <a:rPr sz="1200" spc="-10" dirty="0">
                <a:latin typeface="Calibri"/>
                <a:cs typeface="Calibri"/>
              </a:rPr>
              <a:t>get </a:t>
            </a:r>
            <a:r>
              <a:rPr sz="1200" spc="-5" dirty="0">
                <a:latin typeface="Calibri"/>
                <a:cs typeface="Calibri"/>
              </a:rPr>
              <a:t> refused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it's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6563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6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75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11367" y="1161288"/>
            <a:ext cx="3069590" cy="156972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195" rIns="0" bIns="0" rtlCol="0">
            <a:spAutoFit/>
          </a:bodyPr>
          <a:lstStyle/>
          <a:p>
            <a:pPr marL="264160" marR="111760" indent="-172720">
              <a:lnSpc>
                <a:spcPct val="100000"/>
              </a:lnSpc>
              <a:spcBef>
                <a:spcPts val="285"/>
              </a:spcBef>
              <a:buFont typeface="Wingdings"/>
              <a:buChar char=""/>
              <a:tabLst>
                <a:tab pos="264795" algn="l"/>
              </a:tabLst>
            </a:pPr>
            <a:r>
              <a:rPr sz="1200" spc="-5" dirty="0">
                <a:latin typeface="Calibri"/>
                <a:cs typeface="Calibri"/>
              </a:rPr>
              <a:t>Clients acquired </a:t>
            </a:r>
            <a:r>
              <a:rPr sz="1200" dirty="0">
                <a:latin typeface="Calibri"/>
                <a:cs typeface="Calibri"/>
              </a:rPr>
              <a:t>by bank </a:t>
            </a:r>
            <a:r>
              <a:rPr sz="1200" spc="-5" dirty="0">
                <a:latin typeface="Calibri"/>
                <a:cs typeface="Calibri"/>
              </a:rPr>
              <a:t>through 'Credit </a:t>
            </a:r>
            <a:r>
              <a:rPr sz="1200" dirty="0">
                <a:latin typeface="Calibri"/>
                <a:cs typeface="Calibri"/>
              </a:rPr>
              <a:t> and </a:t>
            </a:r>
            <a:r>
              <a:rPr sz="1200" spc="-5" dirty="0">
                <a:latin typeface="Calibri"/>
                <a:cs typeface="Calibri"/>
              </a:rPr>
              <a:t>Cash offices'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highest chance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getting refused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-5" dirty="0">
                <a:latin typeface="Calibri"/>
                <a:cs typeface="Calibri"/>
              </a:rPr>
              <a:t>Cancelled. </a:t>
            </a:r>
            <a:r>
              <a:rPr sz="1200" dirty="0">
                <a:latin typeface="Calibri"/>
                <a:cs typeface="Calibri"/>
              </a:rPr>
              <a:t>The 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most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likely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will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not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getting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Cancelled </a:t>
            </a:r>
            <a:r>
              <a:rPr sz="1200" dirty="0">
                <a:latin typeface="Calibri"/>
                <a:cs typeface="Calibri"/>
              </a:rPr>
              <a:t>if the </a:t>
            </a:r>
            <a:r>
              <a:rPr sz="1200" spc="-5" dirty="0">
                <a:latin typeface="Calibri"/>
                <a:cs typeface="Calibri"/>
              </a:rPr>
              <a:t>customer </a:t>
            </a:r>
            <a:r>
              <a:rPr sz="1200" dirty="0">
                <a:latin typeface="Calibri"/>
                <a:cs typeface="Calibri"/>
              </a:rPr>
              <a:t>is </a:t>
            </a:r>
            <a:r>
              <a:rPr sz="1200" spc="-5" dirty="0">
                <a:latin typeface="Calibri"/>
                <a:cs typeface="Calibri"/>
              </a:rPr>
              <a:t>acquired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through 'Country-wide' </a:t>
            </a:r>
            <a:r>
              <a:rPr sz="1200" dirty="0">
                <a:latin typeface="Calibri"/>
                <a:cs typeface="Calibri"/>
              </a:rPr>
              <a:t>channel. </a:t>
            </a:r>
            <a:r>
              <a:rPr sz="1200" spc="-5" dirty="0">
                <a:latin typeface="Calibri"/>
                <a:cs typeface="Calibri"/>
              </a:rPr>
              <a:t>‘Contact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center' </a:t>
            </a:r>
            <a:r>
              <a:rPr sz="1200" dirty="0">
                <a:latin typeface="Calibri"/>
                <a:cs typeface="Calibri"/>
              </a:rPr>
              <a:t>channel </a:t>
            </a:r>
            <a:r>
              <a:rPr sz="1200" spc="-5" dirty="0">
                <a:latin typeface="Calibri"/>
                <a:cs typeface="Calibri"/>
              </a:rPr>
              <a:t>clients </a:t>
            </a:r>
            <a:r>
              <a:rPr sz="1200" dirty="0">
                <a:latin typeface="Calibri"/>
                <a:cs typeface="Calibri"/>
              </a:rPr>
              <a:t>also </a:t>
            </a:r>
            <a:r>
              <a:rPr sz="1200" spc="-10" dirty="0">
                <a:latin typeface="Calibri"/>
                <a:cs typeface="Calibri"/>
              </a:rPr>
              <a:t>have </a:t>
            </a:r>
            <a:r>
              <a:rPr sz="1200" spc="-5" dirty="0">
                <a:latin typeface="Calibri"/>
                <a:cs typeface="Calibri"/>
              </a:rPr>
              <a:t>very lower </a:t>
            </a:r>
            <a:r>
              <a:rPr sz="1200" spc="-26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chance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getting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approved.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643" y="649227"/>
            <a:ext cx="4523748" cy="27277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833" y="3477442"/>
            <a:ext cx="6356038" cy="32110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19543" y="3659123"/>
            <a:ext cx="1918970" cy="212471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8100" rIns="0" bIns="0" rtlCol="0">
            <a:spAutoFit/>
          </a:bodyPr>
          <a:lstStyle/>
          <a:p>
            <a:pPr marL="264795" marR="160020" indent="-172720">
              <a:lnSpc>
                <a:spcPct val="100000"/>
              </a:lnSpc>
              <a:spcBef>
                <a:spcPts val="300"/>
              </a:spcBef>
              <a:buFont typeface="Wingdings"/>
              <a:buChar char=""/>
              <a:tabLst>
                <a:tab pos="265430" algn="l"/>
              </a:tabLst>
            </a:pPr>
            <a:r>
              <a:rPr sz="1200" spc="-5" dirty="0">
                <a:latin typeface="Calibri"/>
                <a:cs typeface="Calibri"/>
              </a:rPr>
              <a:t>Most of </a:t>
            </a:r>
            <a:r>
              <a:rPr sz="1200" dirty="0">
                <a:latin typeface="Calibri"/>
                <a:cs typeface="Calibri"/>
              </a:rPr>
              <a:t>loan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applications </a:t>
            </a:r>
            <a:r>
              <a:rPr sz="1200" dirty="0">
                <a:latin typeface="Calibri"/>
                <a:cs typeface="Calibri"/>
              </a:rPr>
              <a:t>belongs </a:t>
            </a:r>
            <a:r>
              <a:rPr sz="1200" spc="-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 Mobile </a:t>
            </a:r>
            <a:r>
              <a:rPr sz="1200" spc="-5" dirty="0">
                <a:latin typeface="Calibri"/>
                <a:cs typeface="Calibri"/>
              </a:rPr>
              <a:t>goods </a:t>
            </a:r>
            <a:r>
              <a:rPr sz="1200" spc="-20" dirty="0">
                <a:latin typeface="Calibri"/>
                <a:cs typeface="Calibri"/>
              </a:rPr>
              <a:t>category. 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There </a:t>
            </a:r>
            <a:r>
              <a:rPr sz="1200" dirty="0">
                <a:latin typeface="Calibri"/>
                <a:cs typeface="Calibri"/>
              </a:rPr>
              <a:t>is a </a:t>
            </a:r>
            <a:r>
              <a:rPr sz="1200" spc="-5" dirty="0">
                <a:latin typeface="Calibri"/>
                <a:cs typeface="Calibri"/>
              </a:rPr>
              <a:t>very </a:t>
            </a:r>
            <a:r>
              <a:rPr sz="1200" dirty="0">
                <a:latin typeface="Calibri"/>
                <a:cs typeface="Calibri"/>
              </a:rPr>
              <a:t>high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chance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 to </a:t>
            </a:r>
            <a:r>
              <a:rPr sz="1200" spc="-10" dirty="0">
                <a:latin typeface="Calibri"/>
                <a:cs typeface="Calibri"/>
              </a:rPr>
              <a:t>get </a:t>
            </a:r>
            <a:r>
              <a:rPr sz="1200" spc="-5" dirty="0">
                <a:latin typeface="Calibri"/>
                <a:cs typeface="Calibri"/>
              </a:rPr>
              <a:t> approved </a:t>
            </a:r>
            <a:r>
              <a:rPr sz="1200" dirty="0">
                <a:latin typeface="Calibri"/>
                <a:cs typeface="Calibri"/>
              </a:rPr>
              <a:t>if 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 </a:t>
            </a:r>
            <a:r>
              <a:rPr sz="1200" dirty="0">
                <a:latin typeface="Calibri"/>
                <a:cs typeface="Calibri"/>
              </a:rPr>
              <a:t>is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good's </a:t>
            </a:r>
            <a:r>
              <a:rPr sz="1200" spc="-10" dirty="0">
                <a:latin typeface="Calibri"/>
                <a:cs typeface="Calibri"/>
              </a:rPr>
              <a:t>category </a:t>
            </a:r>
            <a:r>
              <a:rPr sz="1200" dirty="0">
                <a:latin typeface="Calibri"/>
                <a:cs typeface="Calibri"/>
              </a:rPr>
              <a:t>Mobile,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Computers,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Audio/Video,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Furniture.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5917"/>
            <a:ext cx="84982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Bahnschrift"/>
                <a:cs typeface="Bahnschrift"/>
              </a:rPr>
              <a:t>Bivariate</a:t>
            </a:r>
            <a:r>
              <a:rPr sz="2700" spc="24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Analysis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of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Categorical</a:t>
            </a:r>
            <a:r>
              <a:rPr sz="2700" spc="245" dirty="0">
                <a:latin typeface="Bahnschrift"/>
                <a:cs typeface="Bahnschrift"/>
              </a:rPr>
              <a:t> </a:t>
            </a:r>
            <a:r>
              <a:rPr sz="2700" dirty="0">
                <a:latin typeface="Bahnschrift"/>
                <a:cs typeface="Bahnschrift"/>
              </a:rPr>
              <a:t>-</a:t>
            </a:r>
            <a:r>
              <a:rPr sz="2700" spc="270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Numerical</a:t>
            </a:r>
            <a:r>
              <a:rPr sz="2700" spc="254" dirty="0">
                <a:latin typeface="Bahnschrift"/>
                <a:cs typeface="Bahnschrift"/>
              </a:rPr>
              <a:t> </a:t>
            </a:r>
            <a:r>
              <a:rPr sz="2700" spc="-5" dirty="0">
                <a:latin typeface="Bahnschrift"/>
                <a:cs typeface="Bahnschrift"/>
              </a:rPr>
              <a:t>Variables</a:t>
            </a:r>
            <a:endParaRPr sz="2700">
              <a:latin typeface="Bahnschrift"/>
              <a:cs typeface="Bahnschrif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85" y="847543"/>
            <a:ext cx="6589205" cy="59789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08164" y="1124711"/>
            <a:ext cx="1534795" cy="360172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6830" rIns="0" bIns="0" rtlCol="0">
            <a:spAutoFit/>
          </a:bodyPr>
          <a:lstStyle/>
          <a:p>
            <a:pPr marL="264160" marR="92075" indent="-172720">
              <a:lnSpc>
                <a:spcPct val="100000"/>
              </a:lnSpc>
              <a:spcBef>
                <a:spcPts val="290"/>
              </a:spcBef>
              <a:buFont typeface="Wingdings"/>
              <a:buChar char=""/>
              <a:tabLst>
                <a:tab pos="264795" algn="l"/>
              </a:tabLst>
            </a:pPr>
            <a:r>
              <a:rPr sz="1200" dirty="0">
                <a:latin typeface="Calibri"/>
                <a:cs typeface="Calibri"/>
              </a:rPr>
              <a:t>Median </a:t>
            </a:r>
            <a:r>
              <a:rPr sz="1200" spc="-5" dirty="0">
                <a:latin typeface="Calibri"/>
                <a:cs typeface="Calibri"/>
              </a:rPr>
              <a:t>value 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Credited Amount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Approved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applications are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lower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10" dirty="0">
                <a:latin typeface="Calibri"/>
                <a:cs typeface="Calibri"/>
              </a:rPr>
              <a:t>compare </a:t>
            </a:r>
            <a:r>
              <a:rPr sz="1200" spc="-5" dirty="0">
                <a:latin typeface="Calibri"/>
                <a:cs typeface="Calibri"/>
              </a:rPr>
              <a:t> to </a:t>
            </a:r>
            <a:r>
              <a:rPr sz="1200" spc="-10" dirty="0">
                <a:latin typeface="Calibri"/>
                <a:cs typeface="Calibri"/>
              </a:rPr>
              <a:t>Refused. </a:t>
            </a:r>
            <a:r>
              <a:rPr sz="1200" spc="-5" dirty="0">
                <a:latin typeface="Calibri"/>
                <a:cs typeface="Calibri"/>
              </a:rPr>
              <a:t>IQR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2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 type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applicants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 approved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applications more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compact </a:t>
            </a:r>
            <a:r>
              <a:rPr sz="1200" dirty="0">
                <a:latin typeface="Calibri"/>
                <a:cs typeface="Calibri"/>
              </a:rPr>
              <a:t>than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Refused </a:t>
            </a:r>
            <a:r>
              <a:rPr sz="1200" spc="-5" dirty="0">
                <a:latin typeface="Calibri"/>
                <a:cs typeface="Calibri"/>
              </a:rPr>
              <a:t> application. </a:t>
            </a:r>
            <a:r>
              <a:rPr sz="1200" spc="-30" dirty="0">
                <a:latin typeface="Calibri"/>
                <a:cs typeface="Calibri"/>
              </a:rPr>
              <a:t>We 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say </a:t>
            </a:r>
            <a:r>
              <a:rPr sz="1200" spc="-5" dirty="0">
                <a:latin typeface="Calibri"/>
                <a:cs typeface="Calibri"/>
              </a:rPr>
              <a:t> applications are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g</a:t>
            </a:r>
            <a:r>
              <a:rPr sz="1200" spc="-10" dirty="0">
                <a:latin typeface="Calibri"/>
                <a:cs typeface="Calibri"/>
              </a:rPr>
              <a:t>et</a:t>
            </a:r>
            <a:r>
              <a:rPr sz="1200" dirty="0">
                <a:latin typeface="Calibri"/>
                <a:cs typeface="Calibri"/>
              </a:rPr>
              <a:t>ti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p</a:t>
            </a:r>
            <a:r>
              <a:rPr sz="1200" spc="-25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-15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  the </a:t>
            </a:r>
            <a:r>
              <a:rPr sz="1200" spc="-5" dirty="0">
                <a:latin typeface="Calibri"/>
                <a:cs typeface="Calibri"/>
              </a:rPr>
              <a:t>credited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amount </a:t>
            </a:r>
            <a:r>
              <a:rPr sz="1200" dirty="0">
                <a:latin typeface="Calibri"/>
                <a:cs typeface="Calibri"/>
              </a:rPr>
              <a:t>is </a:t>
            </a:r>
            <a:r>
              <a:rPr sz="1200" spc="-5" dirty="0">
                <a:latin typeface="Calibri"/>
                <a:cs typeface="Calibri"/>
              </a:rPr>
              <a:t>within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particular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range.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209" y="931677"/>
            <a:ext cx="5611864" cy="56118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85673"/>
            <a:ext cx="8649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Bahnschrift"/>
                <a:cs typeface="Bahnschrift"/>
              </a:rPr>
              <a:t>Bivariate</a:t>
            </a:r>
            <a:r>
              <a:rPr sz="2800" spc="300" dirty="0">
                <a:latin typeface="Bahnschrift"/>
                <a:cs typeface="Bahnschrift"/>
              </a:rPr>
              <a:t> </a:t>
            </a:r>
            <a:r>
              <a:rPr sz="2800" spc="-10" dirty="0">
                <a:latin typeface="Bahnschrift"/>
                <a:cs typeface="Bahnschrift"/>
              </a:rPr>
              <a:t>Analysis</a:t>
            </a:r>
            <a:r>
              <a:rPr sz="2800" spc="275" dirty="0">
                <a:latin typeface="Bahnschrift"/>
                <a:cs typeface="Bahnschrift"/>
              </a:rPr>
              <a:t> </a:t>
            </a:r>
            <a:r>
              <a:rPr sz="2800" spc="-5" dirty="0">
                <a:latin typeface="Bahnschrift"/>
                <a:cs typeface="Bahnschrift"/>
              </a:rPr>
              <a:t>of</a:t>
            </a:r>
            <a:r>
              <a:rPr sz="2800" spc="285" dirty="0">
                <a:latin typeface="Bahnschrift"/>
                <a:cs typeface="Bahnschrift"/>
              </a:rPr>
              <a:t> </a:t>
            </a:r>
            <a:r>
              <a:rPr sz="2800" spc="-10" dirty="0">
                <a:latin typeface="Bahnschrift"/>
                <a:cs typeface="Bahnschrift"/>
              </a:rPr>
              <a:t>Numerical</a:t>
            </a:r>
            <a:r>
              <a:rPr sz="2800" spc="345" dirty="0">
                <a:latin typeface="Bahnschrift"/>
                <a:cs typeface="Bahnschrift"/>
              </a:rPr>
              <a:t> </a:t>
            </a:r>
            <a:r>
              <a:rPr sz="2800" spc="-5" dirty="0">
                <a:latin typeface="Bahnschrift"/>
                <a:cs typeface="Bahnschrift"/>
              </a:rPr>
              <a:t>-</a:t>
            </a:r>
            <a:r>
              <a:rPr sz="2800" spc="280" dirty="0">
                <a:latin typeface="Bahnschrift"/>
                <a:cs typeface="Bahnschrift"/>
              </a:rPr>
              <a:t> </a:t>
            </a:r>
            <a:r>
              <a:rPr sz="2800" spc="-10" dirty="0">
                <a:latin typeface="Bahnschrift"/>
                <a:cs typeface="Bahnschrift"/>
              </a:rPr>
              <a:t>Numerical</a:t>
            </a:r>
            <a:r>
              <a:rPr sz="2800" spc="310" dirty="0">
                <a:latin typeface="Bahnschrift"/>
                <a:cs typeface="Bahnschrift"/>
              </a:rPr>
              <a:t> </a:t>
            </a:r>
            <a:r>
              <a:rPr sz="2800" spc="-10" dirty="0">
                <a:latin typeface="Bahnschrift"/>
                <a:cs typeface="Bahnschrift"/>
              </a:rPr>
              <a:t>Variables</a:t>
            </a:r>
            <a:endParaRPr sz="2800">
              <a:latin typeface="Bahnschrift"/>
              <a:cs typeface="Bahnschrif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6371" y="2060448"/>
            <a:ext cx="2159635" cy="224790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88900">
              <a:lnSpc>
                <a:spcPct val="100000"/>
              </a:lnSpc>
              <a:spcBef>
                <a:spcPts val="320"/>
              </a:spcBef>
            </a:pPr>
            <a:r>
              <a:rPr sz="1400" dirty="0">
                <a:latin typeface="Arial MT"/>
                <a:cs typeface="Arial MT"/>
              </a:rPr>
              <a:t>It's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obvious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there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will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 a </a:t>
            </a:r>
            <a:r>
              <a:rPr sz="1400" spc="-5" dirty="0">
                <a:latin typeface="Arial MT"/>
                <a:cs typeface="Arial MT"/>
              </a:rPr>
              <a:t>very </a:t>
            </a:r>
            <a:r>
              <a:rPr sz="1400" dirty="0">
                <a:latin typeface="Arial MT"/>
                <a:cs typeface="Arial MT"/>
              </a:rPr>
              <a:t>strong </a:t>
            </a:r>
            <a:r>
              <a:rPr sz="1400" spc="-5" dirty="0">
                <a:latin typeface="Arial MT"/>
                <a:cs typeface="Arial MT"/>
              </a:rPr>
              <a:t>positive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linear relation </a:t>
            </a:r>
            <a:r>
              <a:rPr sz="1400" spc="-5" dirty="0">
                <a:latin typeface="Arial MT"/>
                <a:cs typeface="Arial MT"/>
              </a:rPr>
              <a:t>between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AMT_APPLICATION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and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AMT_GOODS_PRICE.</a:t>
            </a:r>
            <a:endParaRPr sz="1400">
              <a:latin typeface="Arial MT"/>
              <a:cs typeface="Arial MT"/>
            </a:endParaRPr>
          </a:p>
          <a:p>
            <a:pPr marL="92075" marR="127635">
              <a:lnSpc>
                <a:spcPct val="99300"/>
              </a:lnSpc>
              <a:spcBef>
                <a:spcPts val="15"/>
              </a:spcBef>
            </a:pPr>
            <a:r>
              <a:rPr sz="1400" dirty="0">
                <a:latin typeface="Arial MT"/>
                <a:cs typeface="Arial MT"/>
              </a:rPr>
              <a:t>Medium </a:t>
            </a:r>
            <a:r>
              <a:rPr sz="1400" spc="-5" dirty="0">
                <a:latin typeface="Arial MT"/>
                <a:cs typeface="Arial MT"/>
              </a:rPr>
              <a:t>positive </a:t>
            </a:r>
            <a:r>
              <a:rPr sz="1400" dirty="0">
                <a:latin typeface="Arial MT"/>
                <a:cs typeface="Arial MT"/>
              </a:rPr>
              <a:t>linear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relation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there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between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AMT_APPLICATION 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0" dirty="0">
                <a:latin typeface="Arial MT"/>
                <a:cs typeface="Arial MT"/>
              </a:rPr>
              <a:t>MT</a:t>
            </a:r>
            <a:r>
              <a:rPr sz="1400" dirty="0">
                <a:latin typeface="Arial MT"/>
                <a:cs typeface="Arial MT"/>
              </a:rPr>
              <a:t>_</a:t>
            </a:r>
            <a:r>
              <a:rPr sz="1400" spc="-10" dirty="0">
                <a:latin typeface="Arial MT"/>
                <a:cs typeface="Arial MT"/>
              </a:rPr>
              <a:t>CR</a:t>
            </a:r>
            <a:r>
              <a:rPr sz="1400" dirty="0">
                <a:latin typeface="Arial MT"/>
                <a:cs typeface="Arial MT"/>
              </a:rPr>
              <a:t>E</a:t>
            </a:r>
            <a:r>
              <a:rPr sz="1400" spc="-10" dirty="0">
                <a:latin typeface="Arial MT"/>
                <a:cs typeface="Arial MT"/>
              </a:rPr>
              <a:t>D</a:t>
            </a:r>
            <a:r>
              <a:rPr sz="1400" dirty="0">
                <a:latin typeface="Arial MT"/>
                <a:cs typeface="Arial MT"/>
              </a:rPr>
              <a:t>I</a:t>
            </a:r>
            <a:r>
              <a:rPr sz="1400" spc="-165" dirty="0">
                <a:latin typeface="Arial MT"/>
                <a:cs typeface="Arial MT"/>
              </a:rPr>
              <a:t>T</a:t>
            </a:r>
            <a:r>
              <a:rPr sz="140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833" y="734806"/>
            <a:ext cx="7183838" cy="59717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85090"/>
            <a:ext cx="3265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Bahnschrift"/>
                <a:cs typeface="Bahnschrift"/>
              </a:rPr>
              <a:t>Correlation</a:t>
            </a:r>
            <a:r>
              <a:rPr sz="2800" spc="285" dirty="0">
                <a:latin typeface="Bahnschrift"/>
                <a:cs typeface="Bahnschrift"/>
              </a:rPr>
              <a:t> </a:t>
            </a:r>
            <a:r>
              <a:rPr sz="2800" spc="-10" dirty="0">
                <a:latin typeface="Bahnschrift"/>
                <a:cs typeface="Bahnschrift"/>
              </a:rPr>
              <a:t>Analysis</a:t>
            </a:r>
            <a:endParaRPr sz="2800">
              <a:latin typeface="Bahnschrift"/>
              <a:cs typeface="Bahnschrif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48488"/>
            <a:ext cx="5080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Conclusion</a:t>
            </a:r>
            <a:r>
              <a:rPr sz="3000" spc="-25" dirty="0"/>
              <a:t> </a:t>
            </a:r>
            <a:r>
              <a:rPr sz="3000" dirty="0"/>
              <a:t>(1)</a:t>
            </a:r>
            <a:r>
              <a:rPr sz="3000" spc="5" dirty="0"/>
              <a:t> </a:t>
            </a:r>
            <a:r>
              <a:rPr sz="3000" dirty="0"/>
              <a:t>–</a:t>
            </a:r>
            <a:r>
              <a:rPr sz="3000" spc="-20" dirty="0"/>
              <a:t> </a:t>
            </a:r>
            <a:r>
              <a:rPr sz="3000" spc="-10" dirty="0"/>
              <a:t>Application</a:t>
            </a:r>
            <a:r>
              <a:rPr sz="3000" spc="-20" dirty="0"/>
              <a:t> Data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87730" y="1052576"/>
            <a:ext cx="8108950" cy="51765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4785" marR="53975" indent="-172720">
              <a:lnSpc>
                <a:spcPts val="1510"/>
              </a:lnSpc>
              <a:spcBef>
                <a:spcPts val="295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In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sample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number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Female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much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than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number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Male</a:t>
            </a:r>
            <a:r>
              <a:rPr sz="1400" spc="-5" dirty="0">
                <a:latin typeface="Calibri"/>
                <a:cs typeface="Calibri"/>
              </a:rPr>
              <a:t> clients.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Female clients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less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face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payment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difficulties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than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Male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clients.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should </a:t>
            </a:r>
            <a:r>
              <a:rPr sz="1400" spc="-10" dirty="0">
                <a:latin typeface="Calibri"/>
                <a:cs typeface="Calibri"/>
              </a:rPr>
              <a:t>consider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</a:t>
            </a:r>
            <a:r>
              <a:rPr sz="1400" spc="-15" dirty="0">
                <a:latin typeface="Calibri"/>
                <a:cs typeface="Calibri"/>
              </a:rPr>
              <a:t>feature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predict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loan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defaulters.</a:t>
            </a:r>
            <a:endParaRPr sz="1400">
              <a:latin typeface="Calibri"/>
              <a:cs typeface="Calibri"/>
            </a:endParaRPr>
          </a:p>
          <a:p>
            <a:pPr marL="184785" marR="271145" indent="-172720">
              <a:lnSpc>
                <a:spcPts val="1510"/>
              </a:lnSpc>
              <a:spcBef>
                <a:spcPts val="81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submitted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Document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6</a:t>
            </a:r>
            <a:r>
              <a:rPr sz="1400" spc="-5" dirty="0">
                <a:latin typeface="Calibri"/>
                <a:cs typeface="Calibri"/>
              </a:rPr>
              <a:t> during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lesser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chance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payment </a:t>
            </a:r>
            <a:r>
              <a:rPr sz="1400" spc="-5" dirty="0">
                <a:latin typeface="Calibri"/>
                <a:cs typeface="Calibri"/>
              </a:rPr>
              <a:t> difficulties.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needs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check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Document</a:t>
            </a:r>
            <a:r>
              <a:rPr sz="1400" dirty="0">
                <a:latin typeface="Calibri"/>
                <a:cs typeface="Calibri"/>
              </a:rPr>
              <a:t> 6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during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application.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By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making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</a:t>
            </a:r>
            <a:r>
              <a:rPr sz="1400" spc="-5" dirty="0">
                <a:latin typeface="Calibri"/>
                <a:cs typeface="Calibri"/>
              </a:rPr>
              <a:t>mandatory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document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may</a:t>
            </a:r>
            <a:r>
              <a:rPr sz="1400" spc="-5" dirty="0">
                <a:latin typeface="Calibri"/>
                <a:cs typeface="Calibri"/>
              </a:rPr>
              <a:t> help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reduce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defaults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loans.</a:t>
            </a:r>
            <a:endParaRPr sz="1400">
              <a:latin typeface="Calibri"/>
              <a:cs typeface="Calibri"/>
            </a:endParaRPr>
          </a:p>
          <a:p>
            <a:pPr marL="184785" marR="33020" indent="-172720">
              <a:lnSpc>
                <a:spcPts val="1510"/>
              </a:lnSpc>
              <a:spcBef>
                <a:spcPts val="81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10" dirty="0">
                <a:latin typeface="Calibri"/>
                <a:cs typeface="Calibri"/>
              </a:rPr>
              <a:t>There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slightly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chance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clients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paying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owns</a:t>
            </a:r>
            <a:r>
              <a:rPr sz="1400" spc="-10" dirty="0">
                <a:latin typeface="Calibri"/>
                <a:cs typeface="Calibri"/>
              </a:rPr>
              <a:t> at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least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one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car.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 </a:t>
            </a:r>
            <a:r>
              <a:rPr sz="1400" spc="-10" dirty="0">
                <a:latin typeface="Calibri"/>
                <a:cs typeface="Calibri"/>
              </a:rPr>
              <a:t>may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gather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this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insight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while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approving</a:t>
            </a:r>
            <a:r>
              <a:rPr sz="1400" dirty="0">
                <a:latin typeface="Calibri"/>
                <a:cs typeface="Calibri"/>
              </a:rPr>
              <a:t> 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loan </a:t>
            </a:r>
            <a:r>
              <a:rPr sz="1400" spc="-5" dirty="0">
                <a:latin typeface="Calibri"/>
                <a:cs typeface="Calibri"/>
              </a:rPr>
              <a:t>application.</a:t>
            </a:r>
            <a:endParaRPr sz="1400">
              <a:latin typeface="Calibri"/>
              <a:cs typeface="Calibri"/>
            </a:endParaRPr>
          </a:p>
          <a:p>
            <a:pPr marL="184785" marR="5080" indent="-172720">
              <a:lnSpc>
                <a:spcPts val="1510"/>
              </a:lnSpc>
              <a:spcBef>
                <a:spcPts val="795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having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"Higher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Education"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repay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better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than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other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education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groups.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should </a:t>
            </a:r>
            <a:r>
              <a:rPr sz="1400" spc="-10" dirty="0">
                <a:latin typeface="Calibri"/>
                <a:cs typeface="Calibri"/>
              </a:rPr>
              <a:t>consider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education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 an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important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 </a:t>
            </a:r>
            <a:r>
              <a:rPr sz="1400" spc="-5" dirty="0">
                <a:latin typeface="Calibri"/>
                <a:cs typeface="Calibri"/>
              </a:rPr>
              <a:t>approving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loan.</a:t>
            </a:r>
            <a:endParaRPr sz="1400">
              <a:latin typeface="Calibri"/>
              <a:cs typeface="Calibri"/>
            </a:endParaRPr>
          </a:p>
          <a:p>
            <a:pPr marL="184785" marR="20955" indent="-172720">
              <a:lnSpc>
                <a:spcPts val="1510"/>
              </a:lnSpc>
              <a:spcBef>
                <a:spcPts val="81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Most of 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"Married" </a:t>
            </a:r>
            <a:r>
              <a:rPr sz="1400" spc="-5" dirty="0">
                <a:latin typeface="Calibri"/>
                <a:cs typeface="Calibri"/>
              </a:rPr>
              <a:t>and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they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face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difficulties</a:t>
            </a:r>
            <a:r>
              <a:rPr sz="1400" dirty="0">
                <a:latin typeface="Calibri"/>
                <a:cs typeface="Calibri"/>
              </a:rPr>
              <a:t> in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repayment.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Where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Single, 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Window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default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loan.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living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their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parents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default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on</a:t>
            </a:r>
            <a:r>
              <a:rPr sz="1400" dirty="0">
                <a:latin typeface="Calibri"/>
                <a:cs typeface="Calibri"/>
              </a:rPr>
              <a:t> a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loan.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Bank </a:t>
            </a:r>
            <a:r>
              <a:rPr sz="1400" spc="-5" dirty="0">
                <a:latin typeface="Calibri"/>
                <a:cs typeface="Calibri"/>
              </a:rPr>
              <a:t>should consider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this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feature</a:t>
            </a:r>
            <a:r>
              <a:rPr sz="1400" dirty="0">
                <a:latin typeface="Calibri"/>
                <a:cs typeface="Calibri"/>
              </a:rPr>
              <a:t> along with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other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features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while</a:t>
            </a:r>
            <a:r>
              <a:rPr sz="1400" spc="-5" dirty="0">
                <a:latin typeface="Calibri"/>
                <a:cs typeface="Calibri"/>
              </a:rPr>
              <a:t> approving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loan.</a:t>
            </a:r>
            <a:endParaRPr sz="1400">
              <a:latin typeface="Calibri"/>
              <a:cs typeface="Calibri"/>
            </a:endParaRPr>
          </a:p>
          <a:p>
            <a:pPr marL="184785" marR="54610" indent="-172720">
              <a:lnSpc>
                <a:spcPts val="1510"/>
              </a:lnSpc>
              <a:spcBef>
                <a:spcPts val="815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Peoples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age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group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20-40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Higher-Medium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income </a:t>
            </a:r>
            <a:r>
              <a:rPr sz="1400" spc="-10" dirty="0">
                <a:latin typeface="Calibri"/>
                <a:cs typeface="Calibri"/>
              </a:rPr>
              <a:t>groups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and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occupation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type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Laborers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most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face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payment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difficulties.</a:t>
            </a:r>
            <a:r>
              <a:rPr sz="1400" spc="-10" dirty="0">
                <a:latin typeface="Calibri"/>
                <a:cs typeface="Calibri"/>
              </a:rPr>
              <a:t> So,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applicants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matches</a:t>
            </a:r>
            <a:r>
              <a:rPr sz="1400" dirty="0">
                <a:latin typeface="Calibri"/>
                <a:cs typeface="Calibri"/>
              </a:rPr>
              <a:t> all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these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criteria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should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validated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on other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parameters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approving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their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applications.</a:t>
            </a:r>
            <a:endParaRPr sz="1400">
              <a:latin typeface="Calibri"/>
              <a:cs typeface="Calibri"/>
            </a:endParaRPr>
          </a:p>
          <a:p>
            <a:pPr marL="184785" marR="474345" indent="-172720">
              <a:lnSpc>
                <a:spcPts val="1510"/>
              </a:lnSpc>
              <a:spcBef>
                <a:spcPts val="795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Most of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Laborers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and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they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facing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more </a:t>
            </a:r>
            <a:r>
              <a:rPr sz="1400" spc="-5" dirty="0">
                <a:latin typeface="Calibri"/>
                <a:cs typeface="Calibri"/>
              </a:rPr>
              <a:t>difficulties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repaying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</a:t>
            </a:r>
            <a:r>
              <a:rPr sz="1400" dirty="0">
                <a:latin typeface="Calibri"/>
                <a:cs typeface="Calibri"/>
              </a:rPr>
              <a:t> in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Managers,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Accountants,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Staff,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Skill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tech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Staff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etc.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paying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jobs.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 should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consider </a:t>
            </a:r>
            <a:r>
              <a:rPr sz="1400" spc="-5" dirty="0">
                <a:latin typeface="Calibri"/>
                <a:cs typeface="Calibri"/>
              </a:rPr>
              <a:t> applicant's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current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job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approving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application.</a:t>
            </a:r>
            <a:endParaRPr sz="1400">
              <a:latin typeface="Calibri"/>
              <a:cs typeface="Calibri"/>
            </a:endParaRPr>
          </a:p>
          <a:p>
            <a:pPr marL="184785" marR="207645" indent="-172720">
              <a:lnSpc>
                <a:spcPct val="90000"/>
              </a:lnSpc>
              <a:spcBef>
                <a:spcPts val="785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10" dirty="0">
                <a:latin typeface="Calibri"/>
                <a:cs typeface="Calibri"/>
              </a:rPr>
              <a:t>Pensioners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repay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 </a:t>
            </a:r>
            <a:r>
              <a:rPr sz="1400" spc="-10" dirty="0">
                <a:latin typeface="Calibri"/>
                <a:cs typeface="Calibri"/>
              </a:rPr>
              <a:t>compare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other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income </a:t>
            </a:r>
            <a:r>
              <a:rPr sz="1400" dirty="0">
                <a:latin typeface="Calibri"/>
                <a:cs typeface="Calibri"/>
              </a:rPr>
              <a:t>classes.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reason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could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be,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pensioners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fixed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stable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income, and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they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may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take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 of </a:t>
            </a:r>
            <a:r>
              <a:rPr sz="1400" dirty="0">
                <a:latin typeface="Calibri"/>
                <a:cs typeface="Calibri"/>
              </a:rPr>
              <a:t>a </a:t>
            </a:r>
            <a:r>
              <a:rPr sz="1400" spc="-10" dirty="0">
                <a:latin typeface="Calibri"/>
                <a:cs typeface="Calibri"/>
              </a:rPr>
              <a:t>calculated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amount,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that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monthly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installment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covered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using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pension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income.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should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encourage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 </a:t>
            </a:r>
            <a:r>
              <a:rPr sz="1400" spc="-5" dirty="0">
                <a:latin typeface="Calibri"/>
                <a:cs typeface="Calibri"/>
              </a:rPr>
              <a:t>pensioner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it’s </a:t>
            </a:r>
            <a:r>
              <a:rPr sz="1400" spc="-10" dirty="0">
                <a:latin typeface="Calibri"/>
                <a:cs typeface="Calibri"/>
              </a:rPr>
              <a:t> comparatively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profitable </a:t>
            </a:r>
            <a:r>
              <a:rPr sz="1400" spc="-10" dirty="0">
                <a:latin typeface="Calibri"/>
                <a:cs typeface="Calibri"/>
              </a:rPr>
              <a:t>for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627" y="287782"/>
            <a:ext cx="71024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Conclusion</a:t>
            </a:r>
            <a:r>
              <a:rPr spc="-15" dirty="0"/>
              <a:t> </a:t>
            </a:r>
            <a:r>
              <a:rPr spc="-5" dirty="0"/>
              <a:t>(2)</a:t>
            </a:r>
            <a:r>
              <a:rPr spc="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spc="-15" dirty="0"/>
              <a:t>Previous</a:t>
            </a:r>
            <a:r>
              <a:rPr spc="-10" dirty="0"/>
              <a:t> Application </a:t>
            </a:r>
            <a:r>
              <a:rPr spc="-3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6627" y="1403705"/>
            <a:ext cx="7704455" cy="32245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74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Loans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applied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Saturday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highest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chance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0" dirty="0">
                <a:latin typeface="Calibri"/>
                <a:cs typeface="Calibri"/>
              </a:rPr>
              <a:t> getting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approved.</a:t>
            </a:r>
            <a:endParaRPr sz="1400">
              <a:latin typeface="Calibri"/>
              <a:cs typeface="Calibri"/>
            </a:endParaRPr>
          </a:p>
          <a:p>
            <a:pPr marL="184785" marR="31115" indent="-172720">
              <a:lnSpc>
                <a:spcPts val="1510"/>
              </a:lnSpc>
              <a:spcBef>
                <a:spcPts val="83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Most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previous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from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Repeater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clients.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canceled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new </a:t>
            </a:r>
            <a:r>
              <a:rPr sz="1400" spc="-5" dirty="0">
                <a:latin typeface="Calibri"/>
                <a:cs typeface="Calibri"/>
              </a:rPr>
              <a:t> clients.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Most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unused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offers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from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Repeater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customers.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Probably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it's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easier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</a:t>
            </a:r>
            <a:r>
              <a:rPr sz="1400" spc="-5" dirty="0">
                <a:latin typeface="Calibri"/>
                <a:cs typeface="Calibri"/>
              </a:rPr>
              <a:t> 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Repeater 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customers 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loan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approved,</a:t>
            </a:r>
            <a:r>
              <a:rPr sz="1400" spc="-5" dirty="0">
                <a:latin typeface="Calibri"/>
                <a:cs typeface="Calibri"/>
              </a:rPr>
              <a:t> so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few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them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might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approved </a:t>
            </a:r>
            <a:r>
              <a:rPr sz="1400" spc="-5" dirty="0">
                <a:latin typeface="Calibri"/>
                <a:cs typeface="Calibri"/>
              </a:rPr>
              <a:t>loans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though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they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did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not use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later.</a:t>
            </a:r>
            <a:endParaRPr sz="1400">
              <a:latin typeface="Calibri"/>
              <a:cs typeface="Calibri"/>
            </a:endParaRPr>
          </a:p>
          <a:p>
            <a:pPr marL="184785" marR="49530" indent="-172720">
              <a:lnSpc>
                <a:spcPts val="1510"/>
              </a:lnSpc>
              <a:spcBef>
                <a:spcPts val="81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10" dirty="0">
                <a:latin typeface="Calibri"/>
                <a:cs typeface="Calibri"/>
              </a:rPr>
              <a:t>For </a:t>
            </a:r>
            <a:r>
              <a:rPr sz="1400" spc="-5" dirty="0">
                <a:latin typeface="Calibri"/>
                <a:cs typeface="Calibri"/>
              </a:rPr>
              <a:t>POS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and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CARDS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there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unused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loans.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Chance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a loan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</a:t>
            </a:r>
            <a:r>
              <a:rPr sz="1400" spc="-10" dirty="0">
                <a:latin typeface="Calibri"/>
                <a:cs typeface="Calibri"/>
              </a:rPr>
              <a:t>getting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Refused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higher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it's </a:t>
            </a:r>
            <a:r>
              <a:rPr sz="1400" spc="-5" dirty="0">
                <a:latin typeface="Calibri"/>
                <a:cs typeface="Calibri"/>
              </a:rPr>
              <a:t>Cash</a:t>
            </a:r>
            <a:r>
              <a:rPr sz="1400" dirty="0">
                <a:latin typeface="Calibri"/>
                <a:cs typeface="Calibri"/>
              </a:rPr>
              <a:t> 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Card.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 very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unlikely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refused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it's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POS.</a:t>
            </a:r>
            <a:endParaRPr sz="1400">
              <a:latin typeface="Calibri"/>
              <a:cs typeface="Calibri"/>
            </a:endParaRPr>
          </a:p>
          <a:p>
            <a:pPr marL="184785" marR="650875" indent="-172720">
              <a:lnSpc>
                <a:spcPts val="1510"/>
              </a:lnSpc>
              <a:spcBef>
                <a:spcPts val="80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Most of</a:t>
            </a:r>
            <a:r>
              <a:rPr sz="1400" dirty="0">
                <a:latin typeface="Calibri"/>
                <a:cs typeface="Calibri"/>
              </a:rPr>
              <a:t> loan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belongs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Mobile </a:t>
            </a:r>
            <a:r>
              <a:rPr sz="1400" spc="-5" dirty="0">
                <a:latin typeface="Calibri"/>
                <a:cs typeface="Calibri"/>
              </a:rPr>
              <a:t>goods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category.</a:t>
            </a:r>
            <a:r>
              <a:rPr sz="1400" spc="-10" dirty="0">
                <a:latin typeface="Calibri"/>
                <a:cs typeface="Calibri"/>
              </a:rPr>
              <a:t> There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very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chance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approved </a:t>
            </a:r>
            <a:r>
              <a:rPr sz="1400" dirty="0">
                <a:latin typeface="Calibri"/>
                <a:cs typeface="Calibri"/>
              </a:rPr>
              <a:t>if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</a:t>
            </a:r>
            <a:r>
              <a:rPr sz="1400" spc="-5" dirty="0">
                <a:latin typeface="Calibri"/>
                <a:cs typeface="Calibri"/>
              </a:rPr>
              <a:t> 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good's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category</a:t>
            </a:r>
            <a:r>
              <a:rPr sz="1400" dirty="0">
                <a:latin typeface="Calibri"/>
                <a:cs typeface="Calibri"/>
              </a:rPr>
              <a:t> Mobile,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Computers, </a:t>
            </a:r>
            <a:r>
              <a:rPr sz="1400" spc="-5" dirty="0">
                <a:latin typeface="Calibri"/>
                <a:cs typeface="Calibri"/>
              </a:rPr>
              <a:t> Audio/Video, Furniture.</a:t>
            </a:r>
            <a:endParaRPr sz="1400">
              <a:latin typeface="Calibri"/>
              <a:cs typeface="Calibri"/>
            </a:endParaRPr>
          </a:p>
          <a:p>
            <a:pPr marL="184785" marR="5080" indent="-172720">
              <a:lnSpc>
                <a:spcPts val="1510"/>
              </a:lnSpc>
              <a:spcBef>
                <a:spcPts val="810"/>
              </a:spcBef>
              <a:buFont typeface="Wingdings"/>
              <a:buChar char=""/>
              <a:tabLst>
                <a:tab pos="185420" algn="l"/>
              </a:tabLst>
            </a:pP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acquired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bank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through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'Credit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and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Cash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offices'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highest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chance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0" dirty="0">
                <a:latin typeface="Calibri"/>
                <a:cs typeface="Calibri"/>
              </a:rPr>
              <a:t> getting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refused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Cancelled.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application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most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likely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5" dirty="0">
                <a:latin typeface="Calibri"/>
                <a:cs typeface="Calibri"/>
              </a:rPr>
              <a:t> not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getting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Cancelled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5" dirty="0">
                <a:latin typeface="Calibri"/>
                <a:cs typeface="Calibri"/>
              </a:rPr>
              <a:t> the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customer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acquired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through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'Country-wide'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channel.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‘Contact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center'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channel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clients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very </a:t>
            </a:r>
            <a:r>
              <a:rPr sz="1400" spc="-5" dirty="0">
                <a:latin typeface="Calibri"/>
                <a:cs typeface="Calibri"/>
              </a:rPr>
              <a:t>lower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chance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loan</a:t>
            </a:r>
            <a:r>
              <a:rPr sz="1400" spc="-10" dirty="0">
                <a:latin typeface="Calibri"/>
                <a:cs typeface="Calibri"/>
              </a:rPr>
              <a:t> getting 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approved.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3469</Words>
  <Application>Microsoft Office PowerPoint</Application>
  <PresentationFormat>On-screen Show (4:3)</PresentationFormat>
  <Paragraphs>177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</vt:lpstr>
      <vt:lpstr>Arial MT</vt:lpstr>
      <vt:lpstr>Bahnschrift</vt:lpstr>
      <vt:lpstr>Calibri</vt:lpstr>
      <vt:lpstr>Calibri Light</vt:lpstr>
      <vt:lpstr>Courier New</vt:lpstr>
      <vt:lpstr>Tahoma</vt:lpstr>
      <vt:lpstr>Times New Roman</vt:lpstr>
      <vt:lpstr>Trebuchet MS</vt:lpstr>
      <vt:lpstr>Wingdings</vt:lpstr>
      <vt:lpstr>Wingdings 3</vt:lpstr>
      <vt:lpstr>Facet</vt:lpstr>
      <vt:lpstr>PowerPoint Presentation</vt:lpstr>
      <vt:lpstr>Business Objective</vt:lpstr>
      <vt:lpstr>Taken Approach</vt:lpstr>
      <vt:lpstr>Application Data</vt:lpstr>
      <vt:lpstr>Suggesting Missing Value Treatment</vt:lpstr>
      <vt:lpstr>Checking Class Imbalance for TARGET</vt:lpstr>
      <vt:lpstr>Univariate Analysis of Numeric Variables</vt:lpstr>
      <vt:lpstr>Univariate Analysis of Numerical Variables</vt:lpstr>
      <vt:lpstr>Univariate Analysis of Numerical Variables</vt:lpstr>
      <vt:lpstr>Univariate Analysis of Numerical Variables</vt:lpstr>
      <vt:lpstr>Univariate Analysis of Categorical Variables</vt:lpstr>
      <vt:lpstr>Univariate Analysis of Categorical Variables</vt:lpstr>
      <vt:lpstr>Univariate Analysis of Categorical Variables</vt:lpstr>
      <vt:lpstr>Univariate Analysis of Categorical Variables</vt:lpstr>
      <vt:lpstr>Univariate Analysis of Categorical Variables</vt:lpstr>
      <vt:lpstr>Correlation Analysis of Numeric Variables</vt:lpstr>
      <vt:lpstr>Bivariate Analysis of Numerical - Numerical Variables</vt:lpstr>
      <vt:lpstr>Bivariate Analysis of Numerical - Numerical Variables</vt:lpstr>
      <vt:lpstr>Bivariate Analysis of Categorical - Categorical Variables</vt:lpstr>
      <vt:lpstr>Bivariate Analysis of Categorical - Categorical Variables</vt:lpstr>
      <vt:lpstr>Bivariate Analysis of Categorical - Categorical Variables</vt:lpstr>
      <vt:lpstr>Bivariate Analysis of Categorical - Numerical Variables</vt:lpstr>
      <vt:lpstr>Bivariate Analysis of Categorical - Numerical Variables</vt:lpstr>
      <vt:lpstr>Bivariate Analysis of Categorical - Numerical Variables</vt:lpstr>
      <vt:lpstr>Previous Application Data</vt:lpstr>
      <vt:lpstr>Univariate Analysis of Numeric Variables</vt:lpstr>
      <vt:lpstr>Univariate Analysis of Numeric Variables</vt:lpstr>
      <vt:lpstr>Univariate Analysis of Numeric Variables</vt:lpstr>
      <vt:lpstr>Bivariate Analysis of Categorical - Categorical Variables</vt:lpstr>
      <vt:lpstr>Bivariate Analysis of Categorical - Categorical Variables</vt:lpstr>
      <vt:lpstr>Bivariate Analysis of Categorical - Numerical Variables</vt:lpstr>
      <vt:lpstr>Bivariate Analysis of Numerical - Numerical Variables</vt:lpstr>
      <vt:lpstr>Correlation Analysis</vt:lpstr>
      <vt:lpstr>Conclusion (1) – Application Data</vt:lpstr>
      <vt:lpstr>Conclusion (2) – Previous Application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to understand how consumer attributes and loan attributes influence the tendency of default</dc:title>
  <dc:creator>waytoanik@outlook.com</dc:creator>
  <cp:lastModifiedBy>Anirudh Swami</cp:lastModifiedBy>
  <cp:revision>1</cp:revision>
  <dcterms:created xsi:type="dcterms:W3CDTF">2024-09-15T13:38:17Z</dcterms:created>
  <dcterms:modified xsi:type="dcterms:W3CDTF">2024-09-15T13:39:12Z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2021-06-02T00:00:00Z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2024-09-15T00:00:00Z</vt:filetime>
  </property>
</Properties>
</file>